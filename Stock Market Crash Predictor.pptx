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0"/>
          </a:xfrm>
          <a:custGeom>
            <a:avLst/>
            <a:gdLst/>
            <a:ahLst/>
            <a:cxnLst/>
            <a:rect l="l" t="t" r="r" b="b"/>
            <a:pathLst>
              <a:path w="12192000" h="762000">
                <a:moveTo>
                  <a:pt x="12191999" y="761999"/>
                </a:moveTo>
                <a:lnTo>
                  <a:pt x="0" y="761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9"/>
                </a:lnTo>
                <a:close/>
              </a:path>
            </a:pathLst>
          </a:custGeom>
          <a:solidFill>
            <a:srgbClr val="002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168275"/>
            <a:ext cx="7147559" cy="486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80418" y="1425575"/>
            <a:ext cx="8031162" cy="222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1A1A1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7145" marR="5080" algn="ctr">
              <a:lnSpc>
                <a:spcPct val="100299"/>
              </a:lnSpc>
              <a:spcBef>
                <a:spcPts val="80"/>
              </a:spcBef>
            </a:pPr>
            <a:r>
              <a:rPr spc="-30" dirty="0"/>
              <a:t>Building</a:t>
            </a:r>
            <a:r>
              <a:rPr spc="-220" dirty="0"/>
              <a:t> </a:t>
            </a:r>
            <a:r>
              <a:rPr dirty="0"/>
              <a:t>a</a:t>
            </a:r>
            <a:r>
              <a:rPr spc="-220" dirty="0"/>
              <a:t> </a:t>
            </a:r>
            <a:r>
              <a:rPr spc="-65" dirty="0"/>
              <a:t>High-</a:t>
            </a:r>
            <a:r>
              <a:rPr spc="-10" dirty="0"/>
              <a:t>Recall</a:t>
            </a:r>
            <a:r>
              <a:rPr spc="-220" dirty="0"/>
              <a:t> </a:t>
            </a:r>
            <a:r>
              <a:rPr spc="-10" dirty="0"/>
              <a:t>Early </a:t>
            </a:r>
            <a:r>
              <a:rPr spc="-50" dirty="0"/>
              <a:t>Warning</a:t>
            </a:r>
            <a:r>
              <a:rPr spc="-265" dirty="0"/>
              <a:t> </a:t>
            </a:r>
            <a:r>
              <a:rPr spc="-10" dirty="0"/>
              <a:t>System</a:t>
            </a:r>
            <a:r>
              <a:rPr spc="-260" dirty="0"/>
              <a:t> </a:t>
            </a:r>
            <a:r>
              <a:rPr dirty="0"/>
              <a:t>for</a:t>
            </a:r>
            <a:r>
              <a:rPr spc="-260" dirty="0"/>
              <a:t> </a:t>
            </a:r>
            <a:r>
              <a:rPr spc="-10" dirty="0"/>
              <a:t>Stock </a:t>
            </a:r>
            <a:r>
              <a:rPr spc="-20" dirty="0"/>
              <a:t>Market</a:t>
            </a:r>
            <a:r>
              <a:rPr spc="-295" dirty="0"/>
              <a:t> </a:t>
            </a:r>
            <a:r>
              <a:rPr spc="-10" dirty="0"/>
              <a:t>Crashes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51385" y="3863975"/>
            <a:ext cx="5884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2EA6"/>
                </a:solidFill>
                <a:latin typeface="Microsoft Sans Serif"/>
                <a:cs typeface="Microsoft Sans Serif"/>
              </a:rPr>
              <a:t>A</a:t>
            </a:r>
            <a:r>
              <a:rPr sz="2400" spc="50" dirty="0">
                <a:solidFill>
                  <a:srgbClr val="002EA6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2EA6"/>
                </a:solidFill>
                <a:latin typeface="Microsoft Sans Serif"/>
                <a:cs typeface="Microsoft Sans Serif"/>
              </a:rPr>
              <a:t>Weighted</a:t>
            </a:r>
            <a:r>
              <a:rPr sz="2400" spc="204" dirty="0">
                <a:solidFill>
                  <a:srgbClr val="002EA6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2EA6"/>
                </a:solidFill>
                <a:latin typeface="Microsoft Sans Serif"/>
                <a:cs typeface="Microsoft Sans Serif"/>
              </a:rPr>
              <a:t>Ensemble</a:t>
            </a:r>
            <a:r>
              <a:rPr sz="2400" spc="204" dirty="0">
                <a:solidFill>
                  <a:srgbClr val="002EA6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002EA6"/>
                </a:solidFill>
                <a:latin typeface="Microsoft Sans Serif"/>
                <a:cs typeface="Microsoft Sans Serif"/>
              </a:rPr>
              <a:t>Modeling</a:t>
            </a:r>
            <a:r>
              <a:rPr sz="2400" spc="50" dirty="0">
                <a:solidFill>
                  <a:srgbClr val="002EA6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002EA6"/>
                </a:solidFill>
                <a:latin typeface="Microsoft Sans Serif"/>
                <a:cs typeface="Microsoft Sans Serif"/>
              </a:rPr>
              <a:t>Approach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251" y="4683124"/>
            <a:ext cx="452183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2420" marR="5080" indent="-1570355">
              <a:lnSpc>
                <a:spcPct val="145800"/>
              </a:lnSpc>
              <a:spcBef>
                <a:spcPts val="100"/>
              </a:spcBef>
            </a:pPr>
            <a:r>
              <a:rPr sz="1500" dirty="0">
                <a:solidFill>
                  <a:srgbClr val="1A1A1A"/>
                </a:solidFill>
                <a:latin typeface="Microsoft Sans Serif"/>
                <a:cs typeface="Microsoft Sans Serif"/>
              </a:rPr>
              <a:t>Aaryabrat</a:t>
            </a:r>
            <a:r>
              <a:rPr sz="150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A1A1A"/>
                </a:solidFill>
                <a:latin typeface="Microsoft Sans Serif"/>
                <a:cs typeface="Microsoft Sans Serif"/>
              </a:rPr>
              <a:t>Chhatkuli,</a:t>
            </a:r>
            <a:r>
              <a:rPr sz="15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A1A1A"/>
                </a:solidFill>
                <a:latin typeface="Microsoft Sans Serif"/>
                <a:cs typeface="Microsoft Sans Serif"/>
              </a:rPr>
              <a:t>Dmitri</a:t>
            </a:r>
            <a:r>
              <a:rPr sz="15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A1A1A"/>
                </a:solidFill>
                <a:latin typeface="Microsoft Sans Serif"/>
                <a:cs typeface="Microsoft Sans Serif"/>
              </a:rPr>
              <a:t>De</a:t>
            </a:r>
            <a:r>
              <a:rPr sz="150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A1A1A"/>
                </a:solidFill>
                <a:latin typeface="Microsoft Sans Serif"/>
                <a:cs typeface="Microsoft Sans Serif"/>
              </a:rPr>
              <a:t>Freitas,</a:t>
            </a:r>
            <a:r>
              <a:rPr sz="1500" spc="-5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Tyfani</a:t>
            </a:r>
            <a:r>
              <a:rPr sz="15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Fennell </a:t>
            </a:r>
            <a:r>
              <a:rPr sz="1500" dirty="0">
                <a:solidFill>
                  <a:srgbClr val="1A1A1A"/>
                </a:solidFill>
                <a:latin typeface="Microsoft Sans Serif"/>
                <a:cs typeface="Microsoft Sans Serif"/>
              </a:rPr>
              <a:t>December</a:t>
            </a:r>
            <a:r>
              <a:rPr sz="1500" spc="-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2025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002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819899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E6384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The</a:t>
            </a:r>
            <a:r>
              <a:rPr spc="-110" dirty="0"/>
              <a:t> </a:t>
            </a:r>
            <a:r>
              <a:rPr spc="-35" dirty="0"/>
              <a:t>Problem</a:t>
            </a:r>
            <a:r>
              <a:rPr spc="-110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spc="-45" dirty="0"/>
              <a:t>Research</a:t>
            </a:r>
            <a:r>
              <a:rPr spc="-105" dirty="0"/>
              <a:t> </a:t>
            </a:r>
            <a:r>
              <a:rPr spc="-10" dirty="0"/>
              <a:t>Question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67424" y="761999"/>
            <a:ext cx="5553075" cy="6096000"/>
            <a:chOff x="6067424" y="761999"/>
            <a:chExt cx="5553075" cy="6096000"/>
          </a:xfrm>
        </p:grpSpPr>
        <p:sp>
          <p:nvSpPr>
            <p:cNvPr id="4" name="object 4"/>
            <p:cNvSpPr/>
            <p:nvPr/>
          </p:nvSpPr>
          <p:spPr>
            <a:xfrm>
              <a:off x="6067424" y="761999"/>
              <a:ext cx="28575" cy="6096000"/>
            </a:xfrm>
            <a:custGeom>
              <a:avLst/>
              <a:gdLst/>
              <a:ahLst/>
              <a:cxnLst/>
              <a:rect l="l" t="t" r="r" b="b"/>
              <a:pathLst>
                <a:path w="28575" h="6096000">
                  <a:moveTo>
                    <a:pt x="28574" y="6095999"/>
                  </a:moveTo>
                  <a:lnTo>
                    <a:pt x="0" y="6095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6095999"/>
                  </a:lnTo>
                  <a:close/>
                </a:path>
              </a:pathLst>
            </a:custGeom>
            <a:solidFill>
              <a:srgbClr val="E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81749" y="2409824"/>
              <a:ext cx="5238750" cy="1600200"/>
            </a:xfrm>
            <a:custGeom>
              <a:avLst/>
              <a:gdLst/>
              <a:ahLst/>
              <a:cxnLst/>
              <a:rect l="l" t="t" r="r" b="b"/>
              <a:pathLst>
                <a:path w="5238750" h="1600200">
                  <a:moveTo>
                    <a:pt x="5238749" y="1600199"/>
                  </a:moveTo>
                  <a:lnTo>
                    <a:pt x="0" y="1600199"/>
                  </a:lnTo>
                  <a:lnTo>
                    <a:pt x="0" y="0"/>
                  </a:lnTo>
                  <a:lnTo>
                    <a:pt x="5238749" y="0"/>
                  </a:lnTo>
                  <a:lnTo>
                    <a:pt x="5238749" y="160019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81749" y="2409824"/>
              <a:ext cx="38100" cy="1600200"/>
            </a:xfrm>
            <a:custGeom>
              <a:avLst/>
              <a:gdLst/>
              <a:ahLst/>
              <a:cxnLst/>
              <a:rect l="l" t="t" r="r" b="b"/>
              <a:pathLst>
                <a:path w="38100" h="1600200">
                  <a:moveTo>
                    <a:pt x="38099" y="1600199"/>
                  </a:moveTo>
                  <a:lnTo>
                    <a:pt x="0" y="16001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00199"/>
                  </a:lnTo>
                  <a:close/>
                </a:path>
              </a:pathLst>
            </a:custGeom>
            <a:solidFill>
              <a:srgbClr val="002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69049" y="1101725"/>
            <a:ext cx="5251450" cy="267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2EA6"/>
                </a:solidFill>
                <a:latin typeface="Arial"/>
                <a:cs typeface="Arial"/>
              </a:rPr>
              <a:t>Central</a:t>
            </a:r>
            <a:r>
              <a:rPr sz="1800" b="1" spc="-8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2EA6"/>
                </a:solidFill>
                <a:latin typeface="Arial"/>
                <a:cs typeface="Arial"/>
              </a:rPr>
              <a:t>Research</a:t>
            </a:r>
            <a:r>
              <a:rPr sz="1800" b="1" spc="-8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2EA6"/>
                </a:solidFill>
                <a:latin typeface="Arial"/>
                <a:cs typeface="Arial"/>
              </a:rPr>
              <a:t>Question</a:t>
            </a:r>
            <a:endParaRPr sz="1800">
              <a:latin typeface="Arial"/>
              <a:cs typeface="Arial"/>
            </a:endParaRPr>
          </a:p>
          <a:p>
            <a:pPr marL="12700" marR="122555">
              <a:lnSpc>
                <a:spcPct val="134300"/>
              </a:lnSpc>
              <a:spcBef>
                <a:spcPts val="1260"/>
              </a:spcBef>
            </a:pP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Can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we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synthesize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technical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indicators</a:t>
            </a:r>
            <a:r>
              <a:rPr sz="13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macroeconomic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data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to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predict</a:t>
            </a:r>
            <a:r>
              <a:rPr sz="13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b="1" dirty="0">
                <a:solidFill>
                  <a:srgbClr val="E63845"/>
                </a:solidFill>
                <a:latin typeface="Arial"/>
                <a:cs typeface="Arial"/>
              </a:rPr>
              <a:t>&gt;10%</a:t>
            </a:r>
            <a:r>
              <a:rPr sz="1500" b="1" spc="-2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63845"/>
                </a:solidFill>
                <a:latin typeface="Arial"/>
                <a:cs typeface="Arial"/>
              </a:rPr>
              <a:t>declines</a:t>
            </a:r>
            <a:r>
              <a:rPr sz="1500" b="1" spc="-7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within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500" b="1" dirty="0">
                <a:solidFill>
                  <a:srgbClr val="E63845"/>
                </a:solidFill>
                <a:latin typeface="Arial"/>
                <a:cs typeface="Arial"/>
              </a:rPr>
              <a:t>60</a:t>
            </a:r>
            <a:r>
              <a:rPr sz="1500" b="1" spc="-3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E63845"/>
                </a:solidFill>
                <a:latin typeface="Arial"/>
                <a:cs typeface="Arial"/>
              </a:rPr>
              <a:t>days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?</a:t>
            </a: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350">
              <a:latin typeface="Microsoft Sans Serif"/>
              <a:cs typeface="Microsoft Sans Serif"/>
            </a:endParaRPr>
          </a:p>
          <a:p>
            <a:pPr marL="240665" marR="548640">
              <a:lnSpc>
                <a:spcPct val="132800"/>
              </a:lnSpc>
            </a:pPr>
            <a:r>
              <a:rPr sz="1200" b="1" dirty="0">
                <a:solidFill>
                  <a:srgbClr val="1A1A1A"/>
                </a:solidFill>
                <a:latin typeface="Arial"/>
                <a:cs typeface="Arial"/>
              </a:rPr>
              <a:t>Key</a:t>
            </a:r>
            <a:r>
              <a:rPr sz="1200" b="1" spc="-1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A1A1A"/>
                </a:solidFill>
                <a:latin typeface="Arial"/>
                <a:cs typeface="Arial"/>
              </a:rPr>
              <a:t>Insight:</a:t>
            </a:r>
            <a:r>
              <a:rPr sz="1200" b="1" spc="-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are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rarely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instantaneous.</a:t>
            </a:r>
            <a:r>
              <a:rPr sz="12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They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are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typically</a:t>
            </a:r>
            <a:r>
              <a:rPr sz="1200" spc="5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preceded</a:t>
            </a:r>
            <a:r>
              <a:rPr sz="1200" spc="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by</a:t>
            </a:r>
            <a:r>
              <a:rPr sz="1200" spc="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200" spc="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"fat</a:t>
            </a:r>
            <a:r>
              <a:rPr sz="1200" spc="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tail"</a:t>
            </a:r>
            <a:r>
              <a:rPr sz="1200" spc="5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environment—a</a:t>
            </a:r>
            <a:r>
              <a:rPr sz="1200" spc="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period</a:t>
            </a:r>
            <a:r>
              <a:rPr sz="1200" spc="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200" spc="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extreme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conditions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coupled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with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economic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deterioration.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Our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methodology explicitly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designs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features to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capture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both short-</a:t>
            </a: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term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 fragility and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long-term economic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fragility.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800" y="1101725"/>
            <a:ext cx="3094355" cy="73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2EA6"/>
                </a:solidFill>
                <a:latin typeface="Arial"/>
                <a:cs typeface="Arial"/>
              </a:rPr>
              <a:t>The</a:t>
            </a:r>
            <a:r>
              <a:rPr sz="1800" b="1" spc="-12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2EA6"/>
                </a:solidFill>
                <a:latin typeface="Arial"/>
                <a:cs typeface="Arial"/>
              </a:rPr>
              <a:t>Challenge</a:t>
            </a:r>
            <a:endParaRPr sz="1800">
              <a:latin typeface="Arial"/>
              <a:cs typeface="Arial"/>
            </a:endParaRPr>
          </a:p>
          <a:p>
            <a:pPr marL="393065" indent="-190500">
              <a:lnSpc>
                <a:spcPct val="100000"/>
              </a:lnSpc>
              <a:spcBef>
                <a:spcPts val="1815"/>
              </a:spcBef>
              <a:buClr>
                <a:srgbClr val="002EA6"/>
              </a:buClr>
              <a:buFont typeface="Arial"/>
              <a:buChar char="▪"/>
              <a:tabLst>
                <a:tab pos="393065" algn="l"/>
              </a:tabLst>
            </a:pP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Predicting</a:t>
            </a:r>
            <a:r>
              <a:rPr sz="13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rare,</a:t>
            </a:r>
            <a:r>
              <a:rPr sz="13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catastrophic</a:t>
            </a:r>
            <a:r>
              <a:rPr sz="13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events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9800" y="1997075"/>
            <a:ext cx="31299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E63845"/>
                </a:solidFill>
                <a:latin typeface="Arial"/>
                <a:cs typeface="Arial"/>
              </a:rPr>
              <a:t>~13%</a:t>
            </a:r>
            <a:r>
              <a:rPr sz="1500" b="1" spc="-1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63845"/>
                </a:solidFill>
                <a:latin typeface="Arial"/>
                <a:cs typeface="Arial"/>
              </a:rPr>
              <a:t>of</a:t>
            </a:r>
            <a:r>
              <a:rPr sz="1500" b="1" spc="-1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63845"/>
                </a:solidFill>
                <a:latin typeface="Arial"/>
                <a:cs typeface="Arial"/>
              </a:rPr>
              <a:t>data</a:t>
            </a:r>
            <a:r>
              <a:rPr sz="1500" b="1" spc="-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represents crash</a:t>
            </a:r>
            <a:r>
              <a:rPr sz="135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periods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299" y="1997075"/>
            <a:ext cx="863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0" dirty="0">
                <a:solidFill>
                  <a:srgbClr val="002EA6"/>
                </a:solidFill>
                <a:latin typeface="Arial"/>
                <a:cs typeface="Arial"/>
              </a:rPr>
              <a:t>▪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2416175"/>
            <a:ext cx="4257675" cy="1926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190500">
              <a:lnSpc>
                <a:spcPct val="100000"/>
              </a:lnSpc>
              <a:spcBef>
                <a:spcPts val="100"/>
              </a:spcBef>
              <a:buClr>
                <a:srgbClr val="002EA6"/>
              </a:buClr>
              <a:buFont typeface="Arial"/>
              <a:buChar char="▪"/>
              <a:tabLst>
                <a:tab pos="393065" algn="l"/>
              </a:tabLst>
            </a:pP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Severe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class</a:t>
            </a:r>
            <a:r>
              <a:rPr sz="13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imbalance</a:t>
            </a:r>
            <a:r>
              <a:rPr sz="13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in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training</a:t>
            </a:r>
            <a:r>
              <a:rPr sz="13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data</a:t>
            </a:r>
            <a:endParaRPr sz="1350">
              <a:latin typeface="Microsoft Sans Serif"/>
              <a:cs typeface="Microsoft Sans Serif"/>
            </a:endParaRPr>
          </a:p>
          <a:p>
            <a:pPr marL="393065" indent="-190500">
              <a:lnSpc>
                <a:spcPct val="100000"/>
              </a:lnSpc>
              <a:spcBef>
                <a:spcPts val="1455"/>
              </a:spcBef>
              <a:buClr>
                <a:srgbClr val="002EA6"/>
              </a:buClr>
              <a:buFont typeface="Arial"/>
              <a:buChar char="▪"/>
              <a:tabLst>
                <a:tab pos="393065" algn="l"/>
              </a:tabLst>
            </a:pP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Traditional</a:t>
            </a:r>
            <a:r>
              <a:rPr sz="13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models default to "no crash" 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predictions</a:t>
            </a:r>
            <a:endParaRPr sz="13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002EA6"/>
                </a:solidFill>
                <a:latin typeface="Arial"/>
                <a:cs typeface="Arial"/>
              </a:rPr>
              <a:t>The</a:t>
            </a:r>
            <a:r>
              <a:rPr sz="1800" b="1" spc="-12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2EA6"/>
                </a:solidFill>
                <a:latin typeface="Arial"/>
                <a:cs typeface="Arial"/>
              </a:rPr>
              <a:t>Consequence</a:t>
            </a:r>
            <a:endParaRPr sz="1800">
              <a:latin typeface="Arial"/>
              <a:cs typeface="Arial"/>
            </a:endParaRPr>
          </a:p>
          <a:p>
            <a:pPr marL="12700" marR="44450">
              <a:lnSpc>
                <a:spcPct val="134300"/>
              </a:lnSpc>
              <a:spcBef>
                <a:spcPts val="1260"/>
              </a:spcBef>
            </a:pP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Missing a crash is</a:t>
            </a:r>
            <a:r>
              <a:rPr sz="135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b="1" dirty="0">
                <a:solidFill>
                  <a:srgbClr val="1A1A1A"/>
                </a:solidFill>
                <a:latin typeface="Arial"/>
                <a:cs typeface="Arial"/>
              </a:rPr>
              <a:t>far</a:t>
            </a:r>
            <a:r>
              <a:rPr sz="1350" b="1" spc="-1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1A1A1A"/>
                </a:solidFill>
                <a:latin typeface="Arial"/>
                <a:cs typeface="Arial"/>
              </a:rPr>
              <a:t>costlier</a:t>
            </a:r>
            <a:r>
              <a:rPr sz="1350" b="1" spc="-1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than a</a:t>
            </a:r>
            <a:r>
              <a:rPr sz="135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false alarm in</a:t>
            </a:r>
            <a:r>
              <a:rPr sz="135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risk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management</a:t>
            </a:r>
            <a:r>
              <a:rPr sz="1350" spc="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contexts.</a:t>
            </a:r>
            <a:endParaRPr sz="1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88A7D-EE58-40A8-4476-BFB89AB1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68275"/>
            <a:ext cx="9118600" cy="738664"/>
          </a:xfrm>
        </p:spPr>
        <p:txBody>
          <a:bodyPr/>
          <a:lstStyle/>
          <a:p>
            <a:r>
              <a:rPr lang="en-US" dirty="0"/>
              <a:t>Data Sources: Building a Comprehensive Information Base</a:t>
            </a:r>
            <a:endParaRPr lang="en-BB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7B7C7D-34D3-6816-02F1-A0C2A545A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121920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93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5E9AE-A1CF-9914-2B04-9C5A1822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68275"/>
            <a:ext cx="8890000" cy="738664"/>
          </a:xfrm>
        </p:spPr>
        <p:txBody>
          <a:bodyPr/>
          <a:lstStyle/>
          <a:p>
            <a:r>
              <a:rPr lang="en-US" dirty="0"/>
              <a:t>Data Cleaning and Preparation: Ensuring Temporal Integrity</a:t>
            </a:r>
            <a:endParaRPr lang="en-BB" dirty="0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12273E7-3D3A-EDAC-7FC4-F8E751E80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027"/>
            <a:ext cx="12192000" cy="60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85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Data</a:t>
            </a:r>
            <a:r>
              <a:rPr spc="-165" dirty="0"/>
              <a:t> </a:t>
            </a:r>
            <a:r>
              <a:rPr spc="-45" dirty="0"/>
              <a:t>Architecture</a:t>
            </a:r>
            <a:r>
              <a:rPr spc="-10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35" dirty="0"/>
              <a:t>Feature</a:t>
            </a:r>
            <a:r>
              <a:rPr spc="-8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3" name="object 3"/>
          <p:cNvSpPr/>
          <p:nvPr/>
        </p:nvSpPr>
        <p:spPr>
          <a:xfrm>
            <a:off x="571499" y="876299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099" y="781049"/>
                </a:moveTo>
                <a:lnTo>
                  <a:pt x="0" y="781049"/>
                </a:lnTo>
                <a:lnTo>
                  <a:pt x="0" y="0"/>
                </a:lnTo>
                <a:lnTo>
                  <a:pt x="38099" y="0"/>
                </a:lnTo>
                <a:lnTo>
                  <a:pt x="38099" y="781049"/>
                </a:lnTo>
                <a:close/>
              </a:path>
            </a:pathLst>
          </a:custGeom>
          <a:solidFill>
            <a:srgbClr val="002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9" y="825182"/>
            <a:ext cx="949325" cy="8089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50" b="1" dirty="0">
                <a:solidFill>
                  <a:srgbClr val="002EA6"/>
                </a:solidFill>
                <a:latin typeface="Arial"/>
                <a:cs typeface="Arial"/>
              </a:rPr>
              <a:t>DATA</a:t>
            </a:r>
            <a:r>
              <a:rPr sz="1050" b="1" spc="15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002EA6"/>
                </a:solidFill>
                <a:latin typeface="Arial"/>
                <a:cs typeface="Arial"/>
              </a:rPr>
              <a:t>SPAN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b="1" dirty="0">
                <a:solidFill>
                  <a:srgbClr val="1A1A1A"/>
                </a:solidFill>
                <a:latin typeface="Arial"/>
                <a:cs typeface="Arial"/>
              </a:rPr>
              <a:t>35</a:t>
            </a:r>
            <a:r>
              <a:rPr sz="1800" b="1" spc="-3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A1A1A"/>
                </a:solidFill>
                <a:latin typeface="Arial"/>
                <a:cs typeface="Arial"/>
              </a:rPr>
              <a:t>Years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1990-</a:t>
            </a: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2025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86499" y="876299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099" y="781049"/>
                </a:moveTo>
                <a:lnTo>
                  <a:pt x="0" y="781049"/>
                </a:lnTo>
                <a:lnTo>
                  <a:pt x="0" y="0"/>
                </a:lnTo>
                <a:lnTo>
                  <a:pt x="38099" y="0"/>
                </a:lnTo>
                <a:lnTo>
                  <a:pt x="38099" y="781049"/>
                </a:lnTo>
                <a:close/>
              </a:path>
            </a:pathLst>
          </a:custGeom>
          <a:solidFill>
            <a:srgbClr val="002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02399" y="825182"/>
            <a:ext cx="1431925" cy="8089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50" b="1" spc="55" dirty="0">
                <a:solidFill>
                  <a:srgbClr val="002EA6"/>
                </a:solidFill>
                <a:latin typeface="Arial"/>
                <a:cs typeface="Arial"/>
              </a:rPr>
              <a:t>FINAL</a:t>
            </a:r>
            <a:r>
              <a:rPr sz="1050" b="1" spc="14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002EA6"/>
                </a:solidFill>
                <a:latin typeface="Arial"/>
                <a:cs typeface="Arial"/>
              </a:rPr>
              <a:t>DATASET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800" b="1" dirty="0">
                <a:solidFill>
                  <a:srgbClr val="1A1A1A"/>
                </a:solidFill>
                <a:latin typeface="Arial"/>
                <a:cs typeface="Arial"/>
              </a:rPr>
              <a:t>32 </a:t>
            </a:r>
            <a:r>
              <a:rPr sz="1800" b="1" spc="-10" dirty="0">
                <a:solidFill>
                  <a:srgbClr val="1A1A1A"/>
                </a:solidFill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1997-2025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(cleaned)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1499" y="1771649"/>
            <a:ext cx="11049000" cy="1028700"/>
            <a:chOff x="571499" y="1771649"/>
            <a:chExt cx="11049000" cy="1028700"/>
          </a:xfrm>
        </p:grpSpPr>
        <p:sp>
          <p:nvSpPr>
            <p:cNvPr id="8" name="object 8"/>
            <p:cNvSpPr/>
            <p:nvPr/>
          </p:nvSpPr>
          <p:spPr>
            <a:xfrm>
              <a:off x="571499" y="1771649"/>
              <a:ext cx="11049000" cy="1028700"/>
            </a:xfrm>
            <a:custGeom>
              <a:avLst/>
              <a:gdLst/>
              <a:ahLst/>
              <a:cxnLst/>
              <a:rect l="l" t="t" r="r" b="b"/>
              <a:pathLst>
                <a:path w="11049000" h="1028700">
                  <a:moveTo>
                    <a:pt x="11048999" y="1028699"/>
                  </a:moveTo>
                  <a:lnTo>
                    <a:pt x="0" y="1028699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102869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1499" y="1771649"/>
              <a:ext cx="38100" cy="1028700"/>
            </a:xfrm>
            <a:custGeom>
              <a:avLst/>
              <a:gdLst/>
              <a:ahLst/>
              <a:cxnLst/>
              <a:rect l="l" t="t" r="r" b="b"/>
              <a:pathLst>
                <a:path w="38100" h="1028700">
                  <a:moveTo>
                    <a:pt x="38099" y="1028699"/>
                  </a:moveTo>
                  <a:lnTo>
                    <a:pt x="0" y="10286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28699"/>
                  </a:lnTo>
                  <a:close/>
                </a:path>
              </a:pathLst>
            </a:custGeom>
            <a:solidFill>
              <a:srgbClr val="E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8800" y="1856104"/>
            <a:ext cx="11061700" cy="13093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310"/>
              </a:spcBef>
            </a:pPr>
            <a:r>
              <a:rPr sz="1200" b="1" dirty="0">
                <a:solidFill>
                  <a:srgbClr val="E63845"/>
                </a:solidFill>
                <a:latin typeface="Arial"/>
                <a:cs typeface="Arial"/>
              </a:rPr>
              <a:t>The</a:t>
            </a:r>
            <a:r>
              <a:rPr sz="1200" b="1" spc="-2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3845"/>
                </a:solidFill>
                <a:latin typeface="Arial"/>
                <a:cs typeface="Arial"/>
              </a:rPr>
              <a:t>Data</a:t>
            </a:r>
            <a:r>
              <a:rPr sz="1200" b="1" spc="-2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3845"/>
                </a:solidFill>
                <a:latin typeface="Arial"/>
                <a:cs typeface="Arial"/>
              </a:rPr>
              <a:t>Challenge</a:t>
            </a:r>
            <a:r>
              <a:rPr sz="1200" b="1" spc="-2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E63845"/>
                </a:solidFill>
                <a:latin typeface="Arial"/>
                <a:cs typeface="Arial"/>
              </a:rPr>
              <a:t>&amp;</a:t>
            </a:r>
            <a:r>
              <a:rPr sz="1200" b="1" spc="-2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63845"/>
                </a:solidFill>
                <a:latin typeface="Arial"/>
                <a:cs typeface="Arial"/>
              </a:rPr>
              <a:t>Solution</a:t>
            </a:r>
            <a:endParaRPr sz="12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210"/>
              </a:spcBef>
            </a:pPr>
            <a:r>
              <a:rPr sz="1200" b="1" dirty="0">
                <a:solidFill>
                  <a:srgbClr val="1A1A1A"/>
                </a:solidFill>
                <a:latin typeface="Arial"/>
                <a:cs typeface="Arial"/>
              </a:rPr>
              <a:t>Problem:</a:t>
            </a:r>
            <a:r>
              <a:rPr sz="1200" b="1" spc="-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Merging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high-frequency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daily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S&amp;P</a:t>
            </a:r>
            <a:r>
              <a:rPr sz="12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500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data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with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low-frequency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macro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data.</a:t>
            </a:r>
            <a:endParaRPr sz="1200">
              <a:latin typeface="Microsoft Sans Serif"/>
              <a:cs typeface="Microsoft Sans Serif"/>
            </a:endParaRPr>
          </a:p>
          <a:p>
            <a:pPr marL="240665">
              <a:lnSpc>
                <a:spcPct val="100000"/>
              </a:lnSpc>
              <a:spcBef>
                <a:spcPts val="1260"/>
              </a:spcBef>
            </a:pPr>
            <a:r>
              <a:rPr sz="1200" b="1" dirty="0">
                <a:solidFill>
                  <a:srgbClr val="1A1A1A"/>
                </a:solidFill>
                <a:latin typeface="Arial"/>
                <a:cs typeface="Arial"/>
              </a:rPr>
              <a:t>Solution:</a:t>
            </a:r>
            <a:r>
              <a:rPr sz="1200" b="1" spc="-1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Forward-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fill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imputation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(FFill)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ensure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no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look-ahead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bias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while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maintaining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temporal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alignment.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002EA6"/>
                </a:solidFill>
                <a:latin typeface="Arial"/>
                <a:cs typeface="Arial"/>
              </a:rPr>
              <a:t>Four</a:t>
            </a:r>
            <a:r>
              <a:rPr sz="1500" b="1" spc="-8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2EA6"/>
                </a:solidFill>
                <a:latin typeface="Arial"/>
                <a:cs typeface="Arial"/>
              </a:rPr>
              <a:t>Key</a:t>
            </a:r>
            <a:r>
              <a:rPr sz="1500" b="1" spc="-8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2EA6"/>
                </a:solidFill>
                <a:latin typeface="Arial"/>
                <a:cs typeface="Arial"/>
              </a:rPr>
              <a:t>Feature</a:t>
            </a:r>
            <a:r>
              <a:rPr sz="1500" b="1" spc="-7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2EA6"/>
                </a:solidFill>
                <a:latin typeface="Arial"/>
                <a:cs typeface="Arial"/>
              </a:rPr>
              <a:t>Categories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1024" y="3295649"/>
            <a:ext cx="5448300" cy="1381125"/>
          </a:xfrm>
          <a:custGeom>
            <a:avLst/>
            <a:gdLst/>
            <a:ahLst/>
            <a:cxnLst/>
            <a:rect l="l" t="t" r="r" b="b"/>
            <a:pathLst>
              <a:path w="5448300" h="1381125">
                <a:moveTo>
                  <a:pt x="0" y="0"/>
                </a:moveTo>
                <a:lnTo>
                  <a:pt x="5448299" y="0"/>
                </a:lnTo>
                <a:lnTo>
                  <a:pt x="5448299" y="1381124"/>
                </a:lnTo>
                <a:lnTo>
                  <a:pt x="0" y="138112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1024" y="3286124"/>
            <a:ext cx="5476875" cy="4191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047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82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Trend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Momentum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52462" y="38671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530885"/>
                </a:moveTo>
                <a:lnTo>
                  <a:pt x="21577" y="514350"/>
                </a:lnTo>
                <a:lnTo>
                  <a:pt x="16535" y="514350"/>
                </a:lnTo>
                <a:lnTo>
                  <a:pt x="0" y="530885"/>
                </a:lnTo>
                <a:lnTo>
                  <a:pt x="0" y="535927"/>
                </a:lnTo>
                <a:lnTo>
                  <a:pt x="16535" y="552450"/>
                </a:lnTo>
                <a:lnTo>
                  <a:pt x="21577" y="552450"/>
                </a:lnTo>
                <a:lnTo>
                  <a:pt x="38100" y="535927"/>
                </a:lnTo>
                <a:lnTo>
                  <a:pt x="38100" y="533400"/>
                </a:lnTo>
                <a:lnTo>
                  <a:pt x="38100" y="530885"/>
                </a:lnTo>
                <a:close/>
              </a:path>
              <a:path w="38100" h="552450">
                <a:moveTo>
                  <a:pt x="38100" y="273710"/>
                </a:moveTo>
                <a:lnTo>
                  <a:pt x="21577" y="257175"/>
                </a:lnTo>
                <a:lnTo>
                  <a:pt x="16535" y="257175"/>
                </a:lnTo>
                <a:lnTo>
                  <a:pt x="0" y="273710"/>
                </a:lnTo>
                <a:lnTo>
                  <a:pt x="0" y="278752"/>
                </a:lnTo>
                <a:lnTo>
                  <a:pt x="16535" y="295275"/>
                </a:lnTo>
                <a:lnTo>
                  <a:pt x="21577" y="295275"/>
                </a:lnTo>
                <a:lnTo>
                  <a:pt x="38100" y="278752"/>
                </a:lnTo>
                <a:lnTo>
                  <a:pt x="38100" y="276225"/>
                </a:lnTo>
                <a:lnTo>
                  <a:pt x="38100" y="273710"/>
                </a:lnTo>
                <a:close/>
              </a:path>
              <a:path w="38100" h="552450">
                <a:moveTo>
                  <a:pt x="38100" y="16535"/>
                </a:moveTo>
                <a:lnTo>
                  <a:pt x="21577" y="0"/>
                </a:lnTo>
                <a:lnTo>
                  <a:pt x="16535" y="0"/>
                </a:lnTo>
                <a:lnTo>
                  <a:pt x="0" y="16535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3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0549" y="3778250"/>
            <a:ext cx="542925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MA</a:t>
            </a:r>
            <a:r>
              <a:rPr sz="1050" spc="-5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crossovers</a:t>
            </a:r>
            <a:endParaRPr sz="1050">
              <a:latin typeface="Microsoft Sans Serif"/>
              <a:cs typeface="Microsoft Sans Serif"/>
            </a:endParaRPr>
          </a:p>
          <a:p>
            <a:pPr marL="304800" marR="3947795">
              <a:lnSpc>
                <a:spcPct val="160700"/>
              </a:lnSpc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Price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acceleration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Relative</a:t>
            </a:r>
            <a:r>
              <a:rPr sz="10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differences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62674" y="3295649"/>
            <a:ext cx="5448300" cy="1381125"/>
          </a:xfrm>
          <a:custGeom>
            <a:avLst/>
            <a:gdLst/>
            <a:ahLst/>
            <a:cxnLst/>
            <a:rect l="l" t="t" r="r" b="b"/>
            <a:pathLst>
              <a:path w="5448300" h="1381125">
                <a:moveTo>
                  <a:pt x="0" y="0"/>
                </a:moveTo>
                <a:lnTo>
                  <a:pt x="5448299" y="0"/>
                </a:lnTo>
                <a:lnTo>
                  <a:pt x="5448299" y="1381124"/>
                </a:lnTo>
                <a:lnTo>
                  <a:pt x="0" y="138112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62674" y="3286124"/>
            <a:ext cx="5476875" cy="4191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047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82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Volatility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Stress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334112" y="38671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530885"/>
                </a:moveTo>
                <a:lnTo>
                  <a:pt x="21577" y="514350"/>
                </a:lnTo>
                <a:lnTo>
                  <a:pt x="16535" y="514350"/>
                </a:lnTo>
                <a:lnTo>
                  <a:pt x="0" y="530885"/>
                </a:lnTo>
                <a:lnTo>
                  <a:pt x="0" y="535927"/>
                </a:lnTo>
                <a:lnTo>
                  <a:pt x="16535" y="552450"/>
                </a:lnTo>
                <a:lnTo>
                  <a:pt x="21577" y="552450"/>
                </a:lnTo>
                <a:lnTo>
                  <a:pt x="38100" y="535927"/>
                </a:lnTo>
                <a:lnTo>
                  <a:pt x="38100" y="533400"/>
                </a:lnTo>
                <a:lnTo>
                  <a:pt x="38100" y="530885"/>
                </a:lnTo>
                <a:close/>
              </a:path>
              <a:path w="38100" h="552450">
                <a:moveTo>
                  <a:pt x="38100" y="273710"/>
                </a:moveTo>
                <a:lnTo>
                  <a:pt x="21577" y="257175"/>
                </a:lnTo>
                <a:lnTo>
                  <a:pt x="16535" y="257175"/>
                </a:lnTo>
                <a:lnTo>
                  <a:pt x="0" y="273710"/>
                </a:lnTo>
                <a:lnTo>
                  <a:pt x="0" y="278752"/>
                </a:lnTo>
                <a:lnTo>
                  <a:pt x="16535" y="295275"/>
                </a:lnTo>
                <a:lnTo>
                  <a:pt x="21577" y="295275"/>
                </a:lnTo>
                <a:lnTo>
                  <a:pt x="38100" y="278752"/>
                </a:lnTo>
                <a:lnTo>
                  <a:pt x="38100" y="276225"/>
                </a:lnTo>
                <a:lnTo>
                  <a:pt x="38100" y="273710"/>
                </a:lnTo>
                <a:close/>
              </a:path>
              <a:path w="38100" h="552450">
                <a:moveTo>
                  <a:pt x="38100" y="16535"/>
                </a:moveTo>
                <a:lnTo>
                  <a:pt x="21577" y="0"/>
                </a:lnTo>
                <a:lnTo>
                  <a:pt x="16535" y="0"/>
                </a:lnTo>
                <a:lnTo>
                  <a:pt x="0" y="16535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3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172199" y="3778250"/>
            <a:ext cx="542925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EWMA</a:t>
            </a:r>
            <a:r>
              <a:rPr sz="1050" spc="-5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volatility</a:t>
            </a:r>
            <a:endParaRPr sz="1050">
              <a:latin typeface="Microsoft Sans Serif"/>
              <a:cs typeface="Microsoft Sans Serif"/>
            </a:endParaRPr>
          </a:p>
          <a:p>
            <a:pPr marL="304800" marR="3505835">
              <a:lnSpc>
                <a:spcPct val="160700"/>
              </a:lnSpc>
            </a:pP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ATR</a:t>
            </a:r>
            <a:r>
              <a:rPr sz="1050" spc="-5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(Average</a:t>
            </a:r>
            <a:r>
              <a:rPr sz="1050" spc="-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True</a:t>
            </a:r>
            <a:r>
              <a:rPr sz="1050" spc="-5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Range)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stress</a:t>
            </a:r>
            <a:r>
              <a:rPr sz="10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indicators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1024" y="4810124"/>
            <a:ext cx="5448300" cy="1381125"/>
          </a:xfrm>
          <a:custGeom>
            <a:avLst/>
            <a:gdLst/>
            <a:ahLst/>
            <a:cxnLst/>
            <a:rect l="l" t="t" r="r" b="b"/>
            <a:pathLst>
              <a:path w="5448300" h="1381125">
                <a:moveTo>
                  <a:pt x="0" y="0"/>
                </a:moveTo>
                <a:lnTo>
                  <a:pt x="5448299" y="0"/>
                </a:lnTo>
                <a:lnTo>
                  <a:pt x="5448299" y="1381124"/>
                </a:lnTo>
                <a:lnTo>
                  <a:pt x="0" y="138112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81024" y="4800599"/>
            <a:ext cx="5476875" cy="4191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047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825"/>
              </a:spcBef>
            </a:pP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Technical Indicators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2462" y="5381625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530885"/>
                </a:moveTo>
                <a:lnTo>
                  <a:pt x="21577" y="514350"/>
                </a:lnTo>
                <a:lnTo>
                  <a:pt x="16535" y="514350"/>
                </a:lnTo>
                <a:lnTo>
                  <a:pt x="0" y="530885"/>
                </a:lnTo>
                <a:lnTo>
                  <a:pt x="0" y="535927"/>
                </a:lnTo>
                <a:lnTo>
                  <a:pt x="16535" y="552450"/>
                </a:lnTo>
                <a:lnTo>
                  <a:pt x="21577" y="552450"/>
                </a:lnTo>
                <a:lnTo>
                  <a:pt x="38100" y="535927"/>
                </a:lnTo>
                <a:lnTo>
                  <a:pt x="38100" y="533400"/>
                </a:lnTo>
                <a:lnTo>
                  <a:pt x="38100" y="530885"/>
                </a:lnTo>
                <a:close/>
              </a:path>
              <a:path w="38100" h="552450">
                <a:moveTo>
                  <a:pt x="38100" y="273710"/>
                </a:moveTo>
                <a:lnTo>
                  <a:pt x="21577" y="257175"/>
                </a:lnTo>
                <a:lnTo>
                  <a:pt x="16535" y="257175"/>
                </a:lnTo>
                <a:lnTo>
                  <a:pt x="0" y="273710"/>
                </a:lnTo>
                <a:lnTo>
                  <a:pt x="0" y="278752"/>
                </a:lnTo>
                <a:lnTo>
                  <a:pt x="16535" y="295275"/>
                </a:lnTo>
                <a:lnTo>
                  <a:pt x="21577" y="295275"/>
                </a:lnTo>
                <a:lnTo>
                  <a:pt x="38100" y="278752"/>
                </a:lnTo>
                <a:lnTo>
                  <a:pt x="38100" y="276225"/>
                </a:lnTo>
                <a:lnTo>
                  <a:pt x="38100" y="273710"/>
                </a:lnTo>
                <a:close/>
              </a:path>
              <a:path w="38100" h="552450">
                <a:moveTo>
                  <a:pt x="38100" y="16522"/>
                </a:moveTo>
                <a:lnTo>
                  <a:pt x="21577" y="0"/>
                </a:lnTo>
                <a:lnTo>
                  <a:pt x="16535" y="0"/>
                </a:lnTo>
                <a:lnTo>
                  <a:pt x="0" y="16522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90549" y="5292725"/>
            <a:ext cx="542925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RSI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(Relative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Strength)</a:t>
            </a:r>
            <a:endParaRPr sz="1050">
              <a:latin typeface="Microsoft Sans Serif"/>
              <a:cs typeface="Microsoft Sans Serif"/>
            </a:endParaRPr>
          </a:p>
          <a:p>
            <a:pPr marL="304800" marR="3982720">
              <a:lnSpc>
                <a:spcPct val="160700"/>
              </a:lnSpc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Momentum</a:t>
            </a:r>
            <a:r>
              <a:rPr sz="1050" spc="-4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metrics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Price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patterns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62674" y="4810124"/>
            <a:ext cx="5448300" cy="1381125"/>
          </a:xfrm>
          <a:custGeom>
            <a:avLst/>
            <a:gdLst/>
            <a:ahLst/>
            <a:cxnLst/>
            <a:rect l="l" t="t" r="r" b="b"/>
            <a:pathLst>
              <a:path w="5448300" h="1381125">
                <a:moveTo>
                  <a:pt x="0" y="0"/>
                </a:moveTo>
                <a:lnTo>
                  <a:pt x="5448299" y="0"/>
                </a:lnTo>
                <a:lnTo>
                  <a:pt x="5448299" y="1381124"/>
                </a:lnTo>
                <a:lnTo>
                  <a:pt x="0" y="138112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162674" y="4800599"/>
            <a:ext cx="5476875" cy="4191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047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82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Macro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Fundamentals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334112" y="5381625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530885"/>
                </a:moveTo>
                <a:lnTo>
                  <a:pt x="21577" y="514350"/>
                </a:lnTo>
                <a:lnTo>
                  <a:pt x="16535" y="514350"/>
                </a:lnTo>
                <a:lnTo>
                  <a:pt x="0" y="530885"/>
                </a:lnTo>
                <a:lnTo>
                  <a:pt x="0" y="535927"/>
                </a:lnTo>
                <a:lnTo>
                  <a:pt x="16535" y="552450"/>
                </a:lnTo>
                <a:lnTo>
                  <a:pt x="21577" y="552450"/>
                </a:lnTo>
                <a:lnTo>
                  <a:pt x="38100" y="535927"/>
                </a:lnTo>
                <a:lnTo>
                  <a:pt x="38100" y="533400"/>
                </a:lnTo>
                <a:lnTo>
                  <a:pt x="38100" y="530885"/>
                </a:lnTo>
                <a:close/>
              </a:path>
              <a:path w="38100" h="552450">
                <a:moveTo>
                  <a:pt x="38100" y="273710"/>
                </a:moveTo>
                <a:lnTo>
                  <a:pt x="21577" y="257175"/>
                </a:lnTo>
                <a:lnTo>
                  <a:pt x="16535" y="257175"/>
                </a:lnTo>
                <a:lnTo>
                  <a:pt x="0" y="273710"/>
                </a:lnTo>
                <a:lnTo>
                  <a:pt x="0" y="278752"/>
                </a:lnTo>
                <a:lnTo>
                  <a:pt x="16535" y="295275"/>
                </a:lnTo>
                <a:lnTo>
                  <a:pt x="21577" y="295275"/>
                </a:lnTo>
                <a:lnTo>
                  <a:pt x="38100" y="278752"/>
                </a:lnTo>
                <a:lnTo>
                  <a:pt x="38100" y="276225"/>
                </a:lnTo>
                <a:lnTo>
                  <a:pt x="38100" y="273710"/>
                </a:lnTo>
                <a:close/>
              </a:path>
              <a:path w="38100" h="552450">
                <a:moveTo>
                  <a:pt x="38100" y="16522"/>
                </a:moveTo>
                <a:lnTo>
                  <a:pt x="21577" y="0"/>
                </a:lnTo>
                <a:lnTo>
                  <a:pt x="16535" y="0"/>
                </a:lnTo>
                <a:lnTo>
                  <a:pt x="0" y="16522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172199" y="5292725"/>
            <a:ext cx="542925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Unemployment</a:t>
            </a:r>
            <a:r>
              <a:rPr sz="1050" spc="-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rate</a:t>
            </a:r>
            <a:endParaRPr sz="1050">
              <a:latin typeface="Microsoft Sans Serif"/>
              <a:cs typeface="Microsoft Sans Serif"/>
            </a:endParaRPr>
          </a:p>
          <a:p>
            <a:pPr marL="304800" marR="3537585">
              <a:lnSpc>
                <a:spcPct val="160700"/>
              </a:lnSpc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Interest</a:t>
            </a:r>
            <a:r>
              <a:rPr sz="10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rates &amp; yield</a:t>
            </a:r>
            <a:r>
              <a:rPr sz="10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curve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Inflation</a:t>
            </a:r>
            <a:r>
              <a:rPr sz="10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(CPI/PCE)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Handling</a:t>
            </a:r>
            <a:r>
              <a:rPr spc="-125" dirty="0"/>
              <a:t> </a:t>
            </a:r>
            <a:r>
              <a:rPr spc="-10" dirty="0"/>
              <a:t>the</a:t>
            </a:r>
            <a:r>
              <a:rPr spc="-120" dirty="0"/>
              <a:t> </a:t>
            </a:r>
            <a:r>
              <a:rPr spc="-40" dirty="0"/>
              <a:t>Imbalance</a:t>
            </a:r>
            <a:r>
              <a:rPr spc="-120" dirty="0"/>
              <a:t> </a:t>
            </a:r>
            <a:r>
              <a:rPr spc="-10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1499" y="952499"/>
            <a:ext cx="11049000" cy="1666875"/>
            <a:chOff x="571499" y="952499"/>
            <a:chExt cx="11049000" cy="1666875"/>
          </a:xfrm>
        </p:grpSpPr>
        <p:sp>
          <p:nvSpPr>
            <p:cNvPr id="4" name="object 4"/>
            <p:cNvSpPr/>
            <p:nvPr/>
          </p:nvSpPr>
          <p:spPr>
            <a:xfrm>
              <a:off x="571499" y="952499"/>
              <a:ext cx="11049000" cy="1666875"/>
            </a:xfrm>
            <a:custGeom>
              <a:avLst/>
              <a:gdLst/>
              <a:ahLst/>
              <a:cxnLst/>
              <a:rect l="l" t="t" r="r" b="b"/>
              <a:pathLst>
                <a:path w="11049000" h="1666875">
                  <a:moveTo>
                    <a:pt x="11048999" y="1666874"/>
                  </a:moveTo>
                  <a:lnTo>
                    <a:pt x="0" y="1666874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166687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1499" y="952499"/>
              <a:ext cx="38100" cy="1666875"/>
            </a:xfrm>
            <a:custGeom>
              <a:avLst/>
              <a:gdLst/>
              <a:ahLst/>
              <a:cxnLst/>
              <a:rect l="l" t="t" r="r" b="b"/>
              <a:pathLst>
                <a:path w="38100" h="1666875">
                  <a:moveTo>
                    <a:pt x="38099" y="1666874"/>
                  </a:moveTo>
                  <a:lnTo>
                    <a:pt x="0" y="16668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666874"/>
                  </a:lnTo>
                  <a:close/>
                </a:path>
              </a:pathLst>
            </a:custGeom>
            <a:solidFill>
              <a:srgbClr val="E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0099" y="1724024"/>
            <a:ext cx="762000" cy="285750"/>
          </a:xfrm>
          <a:prstGeom prst="rect">
            <a:avLst/>
          </a:prstGeom>
          <a:solidFill>
            <a:srgbClr val="E63845"/>
          </a:solidFill>
        </p:spPr>
        <p:txBody>
          <a:bodyPr vert="horz" wrap="square" lIns="0" tIns="5715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450"/>
              </a:spcBef>
            </a:pP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15.58%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099" y="972423"/>
            <a:ext cx="4251325" cy="9817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90"/>
              </a:spcBef>
            </a:pPr>
            <a:r>
              <a:rPr sz="1350" b="1" dirty="0">
                <a:solidFill>
                  <a:srgbClr val="E63845"/>
                </a:solidFill>
                <a:latin typeface="Arial"/>
                <a:cs typeface="Arial"/>
              </a:rPr>
              <a:t>The Problem: Severe Class </a:t>
            </a:r>
            <a:r>
              <a:rPr sz="1350" b="1" spc="-10" dirty="0">
                <a:solidFill>
                  <a:srgbClr val="E63845"/>
                </a:solidFill>
                <a:latin typeface="Arial"/>
                <a:cs typeface="Arial"/>
              </a:rPr>
              <a:t>Imbalance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Training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set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exhibits a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severe imbalance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in crash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observations: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875665">
              <a:lnSpc>
                <a:spcPct val="100000"/>
              </a:lnSpc>
              <a:spcBef>
                <a:spcPts val="5"/>
              </a:spcBef>
            </a:pP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8899" y="1724024"/>
            <a:ext cx="4953000" cy="285750"/>
          </a:xfrm>
          <a:prstGeom prst="rect">
            <a:avLst/>
          </a:prstGeom>
          <a:solidFill>
            <a:srgbClr val="B0B0B0"/>
          </a:solidFill>
        </p:spPr>
        <p:txBody>
          <a:bodyPr vert="horz" wrap="square" lIns="0" tIns="571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84.42%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96200" y="1768475"/>
            <a:ext cx="7169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No</a:t>
            </a:r>
            <a:r>
              <a:rPr sz="10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800" y="2111375"/>
            <a:ext cx="5876925" cy="87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solidFill>
                  <a:srgbClr val="1A1A1A"/>
                </a:solidFill>
                <a:latin typeface="Arial"/>
                <a:cs typeface="Arial"/>
              </a:rPr>
              <a:t>Risk: </a:t>
            </a:r>
            <a:r>
              <a:rPr sz="1200" i="1" dirty="0">
                <a:solidFill>
                  <a:srgbClr val="1A1A1A"/>
                </a:solidFill>
                <a:latin typeface="Arial"/>
                <a:cs typeface="Arial"/>
              </a:rPr>
              <a:t>Model defaults to predicting "no</a:t>
            </a:r>
            <a:r>
              <a:rPr sz="1200" i="1" spc="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1A1A1A"/>
                </a:solidFill>
                <a:latin typeface="Arial"/>
                <a:cs typeface="Arial"/>
              </a:rPr>
              <a:t>crash" every time, missing all</a:t>
            </a:r>
            <a:r>
              <a:rPr sz="1200" i="1" spc="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1A1A1A"/>
                </a:solidFill>
                <a:latin typeface="Arial"/>
                <a:cs typeface="Arial"/>
              </a:rPr>
              <a:t>actual </a:t>
            </a:r>
            <a:r>
              <a:rPr sz="1200" i="1" spc="-10" dirty="0">
                <a:solidFill>
                  <a:srgbClr val="1A1A1A"/>
                </a:solidFill>
                <a:latin typeface="Arial"/>
                <a:cs typeface="Arial"/>
              </a:rPr>
              <a:t>crashes.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002EA6"/>
                </a:solidFill>
                <a:latin typeface="Arial"/>
                <a:cs typeface="Arial"/>
              </a:rPr>
              <a:t>Our</a:t>
            </a:r>
            <a:r>
              <a:rPr sz="1500" b="1" spc="-60" dirty="0">
                <a:solidFill>
                  <a:srgbClr val="002EA6"/>
                </a:solidFill>
                <a:latin typeface="Arial"/>
                <a:cs typeface="Arial"/>
              </a:rPr>
              <a:t> Two-</a:t>
            </a:r>
            <a:r>
              <a:rPr sz="1500" b="1" spc="-25" dirty="0">
                <a:solidFill>
                  <a:srgbClr val="002EA6"/>
                </a:solidFill>
                <a:latin typeface="Arial"/>
                <a:cs typeface="Arial"/>
              </a:rPr>
              <a:t>Pronged</a:t>
            </a:r>
            <a:r>
              <a:rPr sz="1500" b="1" spc="-5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2EA6"/>
                </a:solidFill>
                <a:latin typeface="Arial"/>
                <a:cs typeface="Arial"/>
              </a:rPr>
              <a:t>Solution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1499" y="3257549"/>
            <a:ext cx="5429250" cy="2466975"/>
            <a:chOff x="571499" y="3257549"/>
            <a:chExt cx="5429250" cy="2466975"/>
          </a:xfrm>
        </p:grpSpPr>
        <p:sp>
          <p:nvSpPr>
            <p:cNvPr id="12" name="object 12"/>
            <p:cNvSpPr/>
            <p:nvPr/>
          </p:nvSpPr>
          <p:spPr>
            <a:xfrm>
              <a:off x="581024" y="3267074"/>
              <a:ext cx="5410200" cy="2447925"/>
            </a:xfrm>
            <a:custGeom>
              <a:avLst/>
              <a:gdLst/>
              <a:ahLst/>
              <a:cxnLst/>
              <a:rect l="l" t="t" r="r" b="b"/>
              <a:pathLst>
                <a:path w="5410200" h="2447925">
                  <a:moveTo>
                    <a:pt x="0" y="0"/>
                  </a:moveTo>
                  <a:lnTo>
                    <a:pt x="5410199" y="0"/>
                  </a:lnTo>
                  <a:lnTo>
                    <a:pt x="5410199" y="2447924"/>
                  </a:lnTo>
                  <a:lnTo>
                    <a:pt x="0" y="244792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2E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2949" y="5086349"/>
              <a:ext cx="5086350" cy="381000"/>
            </a:xfrm>
            <a:custGeom>
              <a:avLst/>
              <a:gdLst/>
              <a:ahLst/>
              <a:cxnLst/>
              <a:rect l="l" t="t" r="r" b="b"/>
              <a:pathLst>
                <a:path w="5086350" h="381000">
                  <a:moveTo>
                    <a:pt x="508634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5086349" y="0"/>
                  </a:lnTo>
                  <a:lnTo>
                    <a:pt x="5086349" y="38099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2949" y="5086349"/>
              <a:ext cx="28575" cy="381000"/>
            </a:xfrm>
            <a:custGeom>
              <a:avLst/>
              <a:gdLst/>
              <a:ahLst/>
              <a:cxnLst/>
              <a:rect l="l" t="t" r="r" b="b"/>
              <a:pathLst>
                <a:path w="28575" h="381000">
                  <a:moveTo>
                    <a:pt x="28574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380999"/>
                  </a:lnTo>
                  <a:close/>
                </a:path>
              </a:pathLst>
            </a:custGeom>
            <a:solidFill>
              <a:srgbClr val="E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1024" y="3257549"/>
            <a:ext cx="5410200" cy="4191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047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82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r>
              <a:rPr sz="1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SMOTE-Tomek</a:t>
            </a:r>
            <a:r>
              <a:rPr sz="1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Resampling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0249" y="3730624"/>
            <a:ext cx="505396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Synthetic</a:t>
            </a:r>
            <a:r>
              <a:rPr sz="1100" b="1" spc="8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Minority</a:t>
            </a:r>
            <a:r>
              <a:rPr sz="1100" b="1" spc="8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Oversampling</a:t>
            </a:r>
            <a:r>
              <a:rPr sz="1100" b="1" spc="8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Technique</a:t>
            </a:r>
            <a:r>
              <a:rPr sz="1100" b="1" spc="8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(SMOTE)</a:t>
            </a:r>
            <a:r>
              <a:rPr sz="1100" b="1" spc="8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combined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with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Tomek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links</a:t>
            </a:r>
            <a:r>
              <a:rPr sz="1100" spc="4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to: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2462" y="4419600"/>
            <a:ext cx="38100" cy="495300"/>
          </a:xfrm>
          <a:custGeom>
            <a:avLst/>
            <a:gdLst/>
            <a:ahLst/>
            <a:cxnLst/>
            <a:rect l="l" t="t" r="r" b="b"/>
            <a:pathLst>
              <a:path w="38100" h="495300">
                <a:moveTo>
                  <a:pt x="38100" y="473735"/>
                </a:moveTo>
                <a:lnTo>
                  <a:pt x="21577" y="457200"/>
                </a:lnTo>
                <a:lnTo>
                  <a:pt x="16535" y="457200"/>
                </a:lnTo>
                <a:lnTo>
                  <a:pt x="0" y="473735"/>
                </a:lnTo>
                <a:lnTo>
                  <a:pt x="0" y="478777"/>
                </a:lnTo>
                <a:lnTo>
                  <a:pt x="16535" y="495300"/>
                </a:lnTo>
                <a:lnTo>
                  <a:pt x="21577" y="495300"/>
                </a:lnTo>
                <a:lnTo>
                  <a:pt x="38100" y="478777"/>
                </a:lnTo>
                <a:lnTo>
                  <a:pt x="38100" y="476250"/>
                </a:lnTo>
                <a:lnTo>
                  <a:pt x="38100" y="473735"/>
                </a:lnTo>
                <a:close/>
              </a:path>
              <a:path w="38100" h="495300">
                <a:moveTo>
                  <a:pt x="38100" y="245135"/>
                </a:moveTo>
                <a:lnTo>
                  <a:pt x="21577" y="228600"/>
                </a:lnTo>
                <a:lnTo>
                  <a:pt x="16535" y="228600"/>
                </a:lnTo>
                <a:lnTo>
                  <a:pt x="0" y="245135"/>
                </a:lnTo>
                <a:lnTo>
                  <a:pt x="0" y="250177"/>
                </a:lnTo>
                <a:lnTo>
                  <a:pt x="16535" y="266700"/>
                </a:lnTo>
                <a:lnTo>
                  <a:pt x="21577" y="266700"/>
                </a:lnTo>
                <a:lnTo>
                  <a:pt x="38100" y="250177"/>
                </a:lnTo>
                <a:lnTo>
                  <a:pt x="38100" y="247650"/>
                </a:lnTo>
                <a:lnTo>
                  <a:pt x="38100" y="245135"/>
                </a:lnTo>
                <a:close/>
              </a:path>
              <a:path w="38100" h="495300">
                <a:moveTo>
                  <a:pt x="38100" y="16535"/>
                </a:moveTo>
                <a:lnTo>
                  <a:pt x="21577" y="0"/>
                </a:lnTo>
                <a:lnTo>
                  <a:pt x="16535" y="0"/>
                </a:lnTo>
                <a:lnTo>
                  <a:pt x="0" y="16535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3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82650" y="4264024"/>
            <a:ext cx="2955925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Generate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synthetic</a:t>
            </a:r>
            <a:r>
              <a:rPr sz="1100" spc="10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positive</a:t>
            </a:r>
            <a:r>
              <a:rPr sz="1100" spc="10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samples</a:t>
            </a:r>
            <a:r>
              <a:rPr sz="1100" spc="10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(crashes)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Clean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ambiguous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data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points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Balance</a:t>
            </a:r>
            <a:r>
              <a:rPr sz="1100" spc="6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training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set</a:t>
            </a:r>
            <a:r>
              <a:rPr sz="1100" spc="6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50/50</a:t>
            </a:r>
            <a:r>
              <a:rPr sz="1100" b="1" spc="4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2EA6"/>
                </a:solidFill>
                <a:latin typeface="Arial"/>
                <a:cs typeface="Arial"/>
              </a:rPr>
              <a:t>ratio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1524" y="5159375"/>
            <a:ext cx="50577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Result:</a:t>
            </a:r>
            <a:r>
              <a:rPr sz="1100" b="1" spc="5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4,861</a:t>
            </a:r>
            <a:r>
              <a:rPr sz="1100" b="1" spc="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crashes</a:t>
            </a:r>
            <a:r>
              <a:rPr sz="1100" b="1" spc="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out</a:t>
            </a:r>
            <a:r>
              <a:rPr sz="1100" b="1" spc="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of</a:t>
            </a:r>
            <a:r>
              <a:rPr sz="1100" b="1" spc="5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9,722</a:t>
            </a:r>
            <a:r>
              <a:rPr sz="1100" b="1" spc="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E63845"/>
                </a:solidFill>
                <a:latin typeface="Arial"/>
                <a:cs typeface="Arial"/>
              </a:rPr>
              <a:t>samples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00774" y="3267074"/>
            <a:ext cx="5410200" cy="2447925"/>
          </a:xfrm>
          <a:custGeom>
            <a:avLst/>
            <a:gdLst/>
            <a:ahLst/>
            <a:cxnLst/>
            <a:rect l="l" t="t" r="r" b="b"/>
            <a:pathLst>
              <a:path w="5410200" h="2447925">
                <a:moveTo>
                  <a:pt x="0" y="0"/>
                </a:moveTo>
                <a:lnTo>
                  <a:pt x="5410199" y="0"/>
                </a:lnTo>
                <a:lnTo>
                  <a:pt x="5410199" y="2447924"/>
                </a:lnTo>
                <a:lnTo>
                  <a:pt x="0" y="244792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00774" y="3257549"/>
            <a:ext cx="5410200" cy="4191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047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82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2: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Cost-Sensitive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Weighting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49999" y="3730624"/>
            <a:ext cx="49098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Recognizing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that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False</a:t>
            </a:r>
            <a:r>
              <a:rPr sz="1100" b="1" spc="5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Negative</a:t>
            </a:r>
            <a:r>
              <a:rPr sz="1100" b="1" spc="6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(missed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crash)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incurs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far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greater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financial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cost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than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False</a:t>
            </a:r>
            <a:r>
              <a:rPr sz="1100" b="1" spc="5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2EA6"/>
                </a:solidFill>
                <a:latin typeface="Arial"/>
                <a:cs typeface="Arial"/>
              </a:rPr>
              <a:t>Positive</a:t>
            </a:r>
            <a:r>
              <a:rPr sz="1100" b="1" spc="5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(false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alarm):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67462" y="4367212"/>
            <a:ext cx="2457450" cy="857250"/>
          </a:xfrm>
          <a:prstGeom prst="rect">
            <a:avLst/>
          </a:prstGeom>
          <a:solidFill>
            <a:srgbClr val="F5F5F5"/>
          </a:solidFill>
          <a:ln w="9524">
            <a:solidFill>
              <a:srgbClr val="002EA6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85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Weight</a:t>
            </a:r>
            <a:endParaRPr sz="105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1800" b="1" spc="-20" dirty="0">
                <a:solidFill>
                  <a:srgbClr val="E63845"/>
                </a:solidFill>
                <a:latin typeface="Arial"/>
                <a:cs typeface="Arial"/>
              </a:rPr>
              <a:t>9.63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86836" y="4367212"/>
            <a:ext cx="2457450" cy="857250"/>
          </a:xfrm>
          <a:prstGeom prst="rect">
            <a:avLst/>
          </a:prstGeom>
          <a:solidFill>
            <a:srgbClr val="F5F5F5"/>
          </a:solidFill>
          <a:ln w="9524">
            <a:solidFill>
              <a:srgbClr val="002EA6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85"/>
              </a:spcBef>
            </a:pP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No-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Weight</a:t>
            </a:r>
            <a:endParaRPr sz="105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1800" b="1" spc="-20" dirty="0">
                <a:solidFill>
                  <a:srgbClr val="E63845"/>
                </a:solidFill>
                <a:latin typeface="Arial"/>
                <a:cs typeface="Arial"/>
              </a:rPr>
              <a:t>0.59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49999" y="5349875"/>
            <a:ext cx="39763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Gradient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Boosting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further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tripled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penalty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misclassifying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Weighted</a:t>
            </a:r>
            <a:r>
              <a:rPr spc="-95" dirty="0"/>
              <a:t> </a:t>
            </a:r>
            <a:r>
              <a:rPr spc="-40" dirty="0"/>
              <a:t>Ensemble</a:t>
            </a:r>
            <a:r>
              <a:rPr spc="-85" dirty="0"/>
              <a:t> </a:t>
            </a:r>
            <a:r>
              <a:rPr spc="-45" dirty="0"/>
              <a:t>Model</a:t>
            </a:r>
            <a:r>
              <a:rPr spc="-165" dirty="0"/>
              <a:t> </a:t>
            </a:r>
            <a:r>
              <a:rPr spc="-20" dirty="0"/>
              <a:t>Architecture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1499" y="990599"/>
          <a:ext cx="11029950" cy="2502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975994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Logistic</a:t>
                      </a:r>
                      <a:r>
                        <a:rPr sz="135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Regression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5240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  <a:solidFill>
                      <a:srgbClr val="002E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6078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Random</a:t>
                      </a:r>
                      <a:r>
                        <a:rPr sz="135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Forest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5240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  <a:solidFill>
                      <a:srgbClr val="002E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1400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Gradient</a:t>
                      </a:r>
                      <a:r>
                        <a:rPr sz="135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Boosting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15240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  <a:solidFill>
                      <a:srgbClr val="002E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10" dirty="0">
                          <a:solidFill>
                            <a:srgbClr val="002EA6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spc="-10" dirty="0">
                          <a:solidFill>
                            <a:srgbClr val="E63845"/>
                          </a:solidFill>
                          <a:latin typeface="Arial"/>
                          <a:cs typeface="Arial"/>
                        </a:rPr>
                        <a:t>99.6%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10" dirty="0">
                          <a:solidFill>
                            <a:srgbClr val="002EA6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spc="-10" dirty="0">
                          <a:solidFill>
                            <a:srgbClr val="E63845"/>
                          </a:solidFill>
                          <a:latin typeface="Arial"/>
                          <a:cs typeface="Arial"/>
                        </a:rPr>
                        <a:t>90.0%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sz="900" b="1" spc="-10" dirty="0">
                          <a:solidFill>
                            <a:srgbClr val="002EA6"/>
                          </a:solidFill>
                          <a:latin typeface="Arial"/>
                          <a:cs typeface="Arial"/>
                        </a:rPr>
                        <a:t>RECALL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spc="-10" dirty="0">
                          <a:solidFill>
                            <a:srgbClr val="E63845"/>
                          </a:solidFill>
                          <a:latin typeface="Arial"/>
                          <a:cs typeface="Arial"/>
                        </a:rPr>
                        <a:t>36.1%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High</a:t>
                      </a:r>
                      <a:r>
                        <a:rPr sz="1050" spc="-15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sensitivity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Balanced</a:t>
                      </a:r>
                      <a:r>
                        <a:rPr sz="1050" spc="-35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performance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Deep</a:t>
                      </a:r>
                      <a:r>
                        <a:rPr sz="1050" spc="-2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pattern</a:t>
                      </a:r>
                      <a:r>
                        <a:rPr sz="1050" spc="-2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capture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Catches</a:t>
                      </a:r>
                      <a:r>
                        <a:rPr sz="1050" spc="-3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crashes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Good</a:t>
                      </a:r>
                      <a:r>
                        <a:rPr sz="1050" spc="-2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recall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High</a:t>
                      </a:r>
                      <a:r>
                        <a:rPr sz="1050" spc="-15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precision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Low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precision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AUC:</a:t>
                      </a:r>
                      <a:r>
                        <a:rPr sz="1050" spc="-2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0.5365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Lower</a:t>
                      </a:r>
                      <a:r>
                        <a:rPr sz="1050" spc="-2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recall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Many</a:t>
                      </a:r>
                      <a:r>
                        <a:rPr sz="1050" spc="-15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false</a:t>
                      </a:r>
                      <a:r>
                        <a:rPr sz="1050" spc="-15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alarms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  <a:lnB w="19050">
                      <a:solidFill>
                        <a:srgbClr val="002E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Moderate</a:t>
                      </a:r>
                      <a:r>
                        <a:rPr sz="1050" spc="-35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precision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  <a:lnB w="19050">
                      <a:solidFill>
                        <a:srgbClr val="002E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05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Complex</a:t>
                      </a:r>
                      <a:r>
                        <a:rPr sz="1050" spc="-35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050" spc="-10" dirty="0">
                          <a:solidFill>
                            <a:srgbClr val="1A1A1A"/>
                          </a:solidFill>
                          <a:latin typeface="Microsoft Sans Serif"/>
                          <a:cs typeface="Microsoft Sans Serif"/>
                        </a:rPr>
                        <a:t>interactions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9050">
                      <a:solidFill>
                        <a:srgbClr val="002EA6"/>
                      </a:solidFill>
                      <a:prstDash val="solid"/>
                    </a:lnL>
                    <a:lnR w="19050">
                      <a:solidFill>
                        <a:srgbClr val="002EA6"/>
                      </a:solidFill>
                      <a:prstDash val="solid"/>
                    </a:lnR>
                    <a:lnB w="19050">
                      <a:solidFill>
                        <a:srgbClr val="002EA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52474" y="23907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2474" y="26479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2474" y="29051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2474" y="31622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95799" y="23907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95799" y="26479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95799" y="29051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95799" y="31622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48648" y="239077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48648" y="26479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48648" y="29051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48648" y="316229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571499" y="3733799"/>
            <a:ext cx="11049000" cy="1352550"/>
            <a:chOff x="571499" y="3733799"/>
            <a:chExt cx="11049000" cy="1352550"/>
          </a:xfrm>
        </p:grpSpPr>
        <p:sp>
          <p:nvSpPr>
            <p:cNvPr id="17" name="object 17"/>
            <p:cNvSpPr/>
            <p:nvPr/>
          </p:nvSpPr>
          <p:spPr>
            <a:xfrm>
              <a:off x="571499" y="3733799"/>
              <a:ext cx="11049000" cy="1352550"/>
            </a:xfrm>
            <a:custGeom>
              <a:avLst/>
              <a:gdLst/>
              <a:ahLst/>
              <a:cxnLst/>
              <a:rect l="l" t="t" r="r" b="b"/>
              <a:pathLst>
                <a:path w="11049000" h="1352550">
                  <a:moveTo>
                    <a:pt x="11048999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135254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1499" y="3733799"/>
              <a:ext cx="38100" cy="1352550"/>
            </a:xfrm>
            <a:custGeom>
              <a:avLst/>
              <a:gdLst/>
              <a:ahLst/>
              <a:cxnLst/>
              <a:rect l="l" t="t" r="r" b="b"/>
              <a:pathLst>
                <a:path w="38100" h="1352550">
                  <a:moveTo>
                    <a:pt x="38099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52549"/>
                  </a:lnTo>
                  <a:close/>
                </a:path>
              </a:pathLst>
            </a:custGeom>
            <a:solidFill>
              <a:srgbClr val="002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9599" y="3745356"/>
            <a:ext cx="11010900" cy="107759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885"/>
              </a:spcBef>
            </a:pPr>
            <a:r>
              <a:rPr sz="1200" b="1" spc="-25" dirty="0">
                <a:solidFill>
                  <a:srgbClr val="002EA6"/>
                </a:solidFill>
                <a:latin typeface="Arial"/>
                <a:cs typeface="Arial"/>
              </a:rPr>
              <a:t>Ensemble</a:t>
            </a:r>
            <a:r>
              <a:rPr sz="1200" b="1" spc="-4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EA6"/>
                </a:solidFill>
                <a:latin typeface="Arial"/>
                <a:cs typeface="Arial"/>
              </a:rPr>
              <a:t>Benefit</a:t>
            </a:r>
            <a:endParaRPr sz="1200">
              <a:latin typeface="Arial"/>
              <a:cs typeface="Arial"/>
            </a:endParaRPr>
          </a:p>
          <a:p>
            <a:pPr marL="190500" marR="451484">
              <a:lnSpc>
                <a:spcPct val="130700"/>
              </a:lnSpc>
              <a:spcBef>
                <a:spcPts val="350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weighted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ensemble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mechanism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effectively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synthesizes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complementary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strengths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these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three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diverse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classifiers,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leading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more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robust,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final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probability distribution.</a:t>
            </a:r>
            <a:endParaRPr sz="1100">
              <a:latin typeface="Microsoft Sans Serif"/>
              <a:cs typeface="Microsoft Sans Serif"/>
            </a:endParaRPr>
          </a:p>
          <a:p>
            <a:pPr marL="1905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Each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model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mitigates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weaknesses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others,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creating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balanced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approach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that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captures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while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maintaining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reasonable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precision.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1024" y="5248274"/>
            <a:ext cx="11029950" cy="685800"/>
          </a:xfrm>
          <a:prstGeom prst="rect">
            <a:avLst/>
          </a:prstGeom>
          <a:ln w="19049">
            <a:solidFill>
              <a:srgbClr val="E63845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900" b="1" dirty="0">
                <a:solidFill>
                  <a:srgbClr val="E63845"/>
                </a:solidFill>
                <a:latin typeface="Arial"/>
                <a:cs typeface="Arial"/>
              </a:rPr>
              <a:t>FINAL</a:t>
            </a:r>
            <a:r>
              <a:rPr sz="900" b="1" spc="25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E63845"/>
                </a:solidFill>
                <a:latin typeface="Arial"/>
                <a:cs typeface="Arial"/>
              </a:rPr>
              <a:t>PREDICTION</a:t>
            </a:r>
            <a:r>
              <a:rPr sz="900" b="1" spc="27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E63845"/>
                </a:solidFill>
                <a:latin typeface="Arial"/>
                <a:cs typeface="Arial"/>
              </a:rPr>
              <a:t>MECHANISM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Weighted</a:t>
            </a:r>
            <a:r>
              <a:rPr sz="1200" spc="-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Average of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Probability Outputs from</a:t>
            </a:r>
            <a:r>
              <a:rPr sz="1200" spc="-6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All</a:t>
            </a: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Three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Models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Discriminatory</a:t>
            </a:r>
            <a:r>
              <a:rPr spc="-120" dirty="0"/>
              <a:t> </a:t>
            </a:r>
            <a:r>
              <a:rPr spc="-25" dirty="0"/>
              <a:t>Power</a:t>
            </a:r>
            <a:r>
              <a:rPr spc="-120" dirty="0"/>
              <a:t> </a:t>
            </a:r>
            <a:r>
              <a:rPr spc="-25" dirty="0"/>
              <a:t>(ROC</a:t>
            </a:r>
            <a:r>
              <a:rPr spc="-114" dirty="0"/>
              <a:t> </a:t>
            </a:r>
            <a:r>
              <a:rPr spc="-10" dirty="0"/>
              <a:t>Curves)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191249" y="2857499"/>
            <a:ext cx="5619750" cy="1143000"/>
            <a:chOff x="6191249" y="2857499"/>
            <a:chExt cx="5619750" cy="1143000"/>
          </a:xfrm>
        </p:grpSpPr>
        <p:sp>
          <p:nvSpPr>
            <p:cNvPr id="5" name="object 5"/>
            <p:cNvSpPr/>
            <p:nvPr/>
          </p:nvSpPr>
          <p:spPr>
            <a:xfrm>
              <a:off x="6191249" y="2857499"/>
              <a:ext cx="5619750" cy="1143000"/>
            </a:xfrm>
            <a:custGeom>
              <a:avLst/>
              <a:gdLst/>
              <a:ahLst/>
              <a:cxnLst/>
              <a:rect l="l" t="t" r="r" b="b"/>
              <a:pathLst>
                <a:path w="5619750" h="1143000">
                  <a:moveTo>
                    <a:pt x="561974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5619749" y="0"/>
                  </a:lnTo>
                  <a:lnTo>
                    <a:pt x="5619749" y="114299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91249" y="2857499"/>
              <a:ext cx="38100" cy="1143000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099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42999"/>
                  </a:lnTo>
                  <a:close/>
                </a:path>
              </a:pathLst>
            </a:custGeom>
            <a:solidFill>
              <a:srgbClr val="002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78549" y="886460"/>
            <a:ext cx="5632450" cy="29667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50" b="1" dirty="0">
                <a:solidFill>
                  <a:srgbClr val="002EA6"/>
                </a:solidFill>
                <a:latin typeface="Arial"/>
                <a:cs typeface="Arial"/>
              </a:rPr>
              <a:t>KEY</a:t>
            </a:r>
            <a:r>
              <a:rPr sz="1050" b="1" spc="27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002EA6"/>
                </a:solidFill>
                <a:latin typeface="Arial"/>
                <a:cs typeface="Arial"/>
              </a:rPr>
              <a:t>RESULT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100" b="1" dirty="0">
                <a:solidFill>
                  <a:srgbClr val="E63845"/>
                </a:solidFill>
                <a:latin typeface="Arial"/>
                <a:cs typeface="Arial"/>
              </a:rPr>
              <a:t>AUC = </a:t>
            </a:r>
            <a:r>
              <a:rPr sz="2100" b="1" spc="-20" dirty="0">
                <a:solidFill>
                  <a:srgbClr val="E63845"/>
                </a:solidFill>
                <a:latin typeface="Arial"/>
                <a:cs typeface="Arial"/>
              </a:rPr>
              <a:t>0.93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Excellent</a:t>
            </a:r>
            <a:r>
              <a:rPr sz="1200" spc="-5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discriminatory</a:t>
            </a:r>
            <a:r>
              <a:rPr sz="1200" spc="-5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ability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50" b="1" spc="60" dirty="0">
                <a:solidFill>
                  <a:srgbClr val="002EA6"/>
                </a:solidFill>
                <a:latin typeface="Arial"/>
                <a:cs typeface="Arial"/>
              </a:rPr>
              <a:t>ENSEMBLE</a:t>
            </a:r>
            <a:r>
              <a:rPr sz="1050" b="1" spc="16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50" dirty="0">
                <a:solidFill>
                  <a:srgbClr val="002EA6"/>
                </a:solidFill>
                <a:latin typeface="Arial"/>
                <a:cs typeface="Arial"/>
              </a:rPr>
              <a:t>PERFORMANCE</a:t>
            </a:r>
            <a:endParaRPr sz="1050">
              <a:latin typeface="Arial"/>
              <a:cs typeface="Arial"/>
            </a:endParaRPr>
          </a:p>
          <a:p>
            <a:pPr marL="12700" marR="23495">
              <a:lnSpc>
                <a:spcPct val="125000"/>
              </a:lnSpc>
              <a:spcBef>
                <a:spcPts val="254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Weighted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Ensemble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Model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significantly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outperforms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all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individual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base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models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across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entire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ROC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curve.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64465">
              <a:lnSpc>
                <a:spcPct val="100000"/>
              </a:lnSpc>
            </a:pPr>
            <a:r>
              <a:rPr sz="1050" b="1" spc="45" dirty="0">
                <a:solidFill>
                  <a:srgbClr val="002EA6"/>
                </a:solidFill>
                <a:latin typeface="Arial"/>
                <a:cs typeface="Arial"/>
              </a:rPr>
              <a:t>INTERPRETATION</a:t>
            </a:r>
            <a:endParaRPr sz="1050">
              <a:latin typeface="Arial"/>
              <a:cs typeface="Arial"/>
            </a:endParaRPr>
          </a:p>
          <a:p>
            <a:pPr marL="164465" marR="147955">
              <a:lnSpc>
                <a:spcPct val="125000"/>
              </a:lnSpc>
              <a:spcBef>
                <a:spcPts val="254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model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reliably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ranks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observations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higher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than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non-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observations,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demonstrating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robust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discriminatory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power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identifying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periods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elevated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risk.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9" name="Picture 8" descr="A graph showing a crash prediction model&#10;&#10;AI-generated content may be incorrect.">
            <a:extLst>
              <a:ext uri="{FF2B5EF4-FFF2-40B4-BE49-F238E27FC236}">
                <a16:creationId xmlns:a16="http://schemas.microsoft.com/office/drawing/2014/main" id="{313B707C-BCC5-B3D2-C842-3585EA9E0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5" y="1676400"/>
            <a:ext cx="6023875" cy="35817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The</a:t>
            </a:r>
            <a:r>
              <a:rPr spc="-70" dirty="0"/>
              <a:t> </a:t>
            </a:r>
            <a:r>
              <a:rPr spc="-55" dirty="0"/>
              <a:t>Precision-</a:t>
            </a:r>
            <a:r>
              <a:rPr spc="-35" dirty="0"/>
              <a:t>Recall</a:t>
            </a:r>
            <a:r>
              <a:rPr spc="-65" dirty="0"/>
              <a:t> </a:t>
            </a:r>
            <a:r>
              <a:rPr spc="-75" dirty="0"/>
              <a:t>Trade-</a:t>
            </a:r>
            <a:r>
              <a:rPr spc="-25" dirty="0"/>
              <a:t>off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150" y="1426210"/>
            <a:ext cx="5791197" cy="40055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381749" y="2171699"/>
            <a:ext cx="5238750" cy="19050"/>
          </a:xfrm>
          <a:custGeom>
            <a:avLst/>
            <a:gdLst/>
            <a:ahLst/>
            <a:cxnLst/>
            <a:rect l="l" t="t" r="r" b="b"/>
            <a:pathLst>
              <a:path w="5238750" h="19050">
                <a:moveTo>
                  <a:pt x="5238749" y="19049"/>
                </a:moveTo>
                <a:lnTo>
                  <a:pt x="0" y="19049"/>
                </a:lnTo>
                <a:lnTo>
                  <a:pt x="0" y="0"/>
                </a:lnTo>
                <a:lnTo>
                  <a:pt x="5238749" y="0"/>
                </a:lnTo>
                <a:lnTo>
                  <a:pt x="5238749" y="19049"/>
                </a:lnTo>
                <a:close/>
              </a:path>
            </a:pathLst>
          </a:custGeom>
          <a:solidFill>
            <a:srgbClr val="002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381749" y="4629149"/>
            <a:ext cx="5238750" cy="1352550"/>
            <a:chOff x="6381749" y="4629149"/>
            <a:chExt cx="5238750" cy="1352550"/>
          </a:xfrm>
        </p:grpSpPr>
        <p:sp>
          <p:nvSpPr>
            <p:cNvPr id="6" name="object 6"/>
            <p:cNvSpPr/>
            <p:nvPr/>
          </p:nvSpPr>
          <p:spPr>
            <a:xfrm>
              <a:off x="6381749" y="4629149"/>
              <a:ext cx="5238750" cy="1352550"/>
            </a:xfrm>
            <a:custGeom>
              <a:avLst/>
              <a:gdLst/>
              <a:ahLst/>
              <a:cxnLst/>
              <a:rect l="l" t="t" r="r" b="b"/>
              <a:pathLst>
                <a:path w="5238750" h="1352550">
                  <a:moveTo>
                    <a:pt x="5238749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5238749" y="0"/>
                  </a:lnTo>
                  <a:lnTo>
                    <a:pt x="5238749" y="135254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81749" y="4629149"/>
              <a:ext cx="38100" cy="1352550"/>
            </a:xfrm>
            <a:custGeom>
              <a:avLst/>
              <a:gdLst/>
              <a:ahLst/>
              <a:cxnLst/>
              <a:rect l="l" t="t" r="r" b="b"/>
              <a:pathLst>
                <a:path w="38100" h="1352550">
                  <a:moveTo>
                    <a:pt x="38099" y="1352549"/>
                  </a:moveTo>
                  <a:lnTo>
                    <a:pt x="0" y="13525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52549"/>
                  </a:lnTo>
                  <a:close/>
                </a:path>
              </a:pathLst>
            </a:custGeom>
            <a:solidFill>
              <a:srgbClr val="E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69049" y="1006263"/>
            <a:ext cx="2812415" cy="90424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50" b="1" spc="55" dirty="0">
                <a:solidFill>
                  <a:srgbClr val="002EA6"/>
                </a:solidFill>
                <a:latin typeface="Arial"/>
                <a:cs typeface="Arial"/>
              </a:rPr>
              <a:t>OPERATIONAL</a:t>
            </a:r>
            <a:r>
              <a:rPr sz="1050" b="1" spc="16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50" dirty="0">
                <a:solidFill>
                  <a:srgbClr val="002EA6"/>
                </a:solidFill>
                <a:latin typeface="Arial"/>
                <a:cs typeface="Arial"/>
              </a:rPr>
              <a:t>THRESHOLD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700" b="1" spc="-20" dirty="0">
                <a:solidFill>
                  <a:srgbClr val="E63845"/>
                </a:solidFill>
                <a:latin typeface="Arial"/>
                <a:cs typeface="Arial"/>
              </a:rPr>
              <a:t>0.15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Optimized</a:t>
            </a: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maximizing</a:t>
            </a: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</a:t>
            </a:r>
            <a:r>
              <a:rPr sz="12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detection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9049" y="2339763"/>
            <a:ext cx="2948940" cy="202818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50" b="1" spc="55" dirty="0">
                <a:solidFill>
                  <a:srgbClr val="002EA6"/>
                </a:solidFill>
                <a:latin typeface="Arial"/>
                <a:cs typeface="Arial"/>
              </a:rPr>
              <a:t>RECALL</a:t>
            </a:r>
            <a:r>
              <a:rPr sz="1050" b="1" spc="15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55" dirty="0">
                <a:solidFill>
                  <a:srgbClr val="002EA6"/>
                </a:solidFill>
                <a:latin typeface="Arial"/>
                <a:cs typeface="Arial"/>
              </a:rPr>
              <a:t>(CRASH</a:t>
            </a:r>
            <a:r>
              <a:rPr sz="1050" b="1" spc="16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60" dirty="0">
                <a:solidFill>
                  <a:srgbClr val="002EA6"/>
                </a:solidFill>
                <a:latin typeface="Arial"/>
                <a:cs typeface="Arial"/>
              </a:rPr>
              <a:t>DETECTION</a:t>
            </a:r>
            <a:r>
              <a:rPr sz="1050" b="1" spc="16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002EA6"/>
                </a:solidFill>
                <a:latin typeface="Arial"/>
                <a:cs typeface="Arial"/>
              </a:rPr>
              <a:t>RATE)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700" b="1" spc="-10" dirty="0">
                <a:solidFill>
                  <a:srgbClr val="E63845"/>
                </a:solidFill>
                <a:latin typeface="Arial"/>
                <a:cs typeface="Arial"/>
              </a:rPr>
              <a:t>93.57%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233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out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249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detected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on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test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set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050" b="1" spc="60" dirty="0">
                <a:solidFill>
                  <a:srgbClr val="002EA6"/>
                </a:solidFill>
                <a:latin typeface="Arial"/>
                <a:cs typeface="Arial"/>
              </a:rPr>
              <a:t>PRECISION</a:t>
            </a:r>
            <a:r>
              <a:rPr sz="1050" b="1" spc="18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60" dirty="0">
                <a:solidFill>
                  <a:srgbClr val="002EA6"/>
                </a:solidFill>
                <a:latin typeface="Arial"/>
                <a:cs typeface="Arial"/>
              </a:rPr>
              <a:t>(CONFIDENCE</a:t>
            </a:r>
            <a:r>
              <a:rPr sz="1050" b="1" spc="18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002EA6"/>
                </a:solidFill>
                <a:latin typeface="Arial"/>
                <a:cs typeface="Arial"/>
              </a:rPr>
              <a:t>RATE)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700" b="1" spc="-10" dirty="0">
                <a:solidFill>
                  <a:srgbClr val="E63845"/>
                </a:solidFill>
                <a:latin typeface="Arial"/>
                <a:cs typeface="Arial"/>
              </a:rPr>
              <a:t>17.04%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1,134</a:t>
            </a:r>
            <a:r>
              <a:rPr sz="12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false</a:t>
            </a:r>
            <a:r>
              <a:rPr sz="12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positives</a:t>
            </a:r>
            <a:r>
              <a:rPr sz="12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accepted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19849" y="4778375"/>
            <a:ext cx="5200650" cy="1017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E63845"/>
                </a:solidFill>
                <a:latin typeface="Arial"/>
                <a:cs typeface="Arial"/>
              </a:rPr>
              <a:t>Risk Management </a:t>
            </a:r>
            <a:r>
              <a:rPr sz="1200" b="1" spc="-10" dirty="0">
                <a:solidFill>
                  <a:srgbClr val="E63845"/>
                </a:solidFill>
                <a:latin typeface="Arial"/>
                <a:cs typeface="Arial"/>
              </a:rPr>
              <a:t>Philosophy</a:t>
            </a:r>
            <a:endParaRPr sz="1200">
              <a:latin typeface="Arial"/>
              <a:cs typeface="Arial"/>
            </a:endParaRPr>
          </a:p>
          <a:p>
            <a:pPr marL="152400" marR="474980">
              <a:lnSpc>
                <a:spcPct val="132800"/>
              </a:lnSpc>
              <a:spcBef>
                <a:spcPts val="635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In risk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management,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it is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better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be safe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than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sorry.</a:t>
            </a:r>
            <a:r>
              <a:rPr sz="12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 high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false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alarm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rate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is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an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acceptable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trade-off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ensure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we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catch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real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catastrophes and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minimize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catastrophic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cost of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missed</a:t>
            </a:r>
            <a:r>
              <a:rPr sz="120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crashes.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What</a:t>
            </a:r>
            <a:r>
              <a:rPr spc="-110" dirty="0"/>
              <a:t> </a:t>
            </a:r>
            <a:r>
              <a:rPr spc="-45" dirty="0"/>
              <a:t>Drives</a:t>
            </a:r>
            <a:r>
              <a:rPr spc="-110" dirty="0"/>
              <a:t> </a:t>
            </a:r>
            <a:r>
              <a:rPr spc="-10" dirty="0"/>
              <a:t>the</a:t>
            </a:r>
            <a:r>
              <a:rPr spc="-110" dirty="0"/>
              <a:t> </a:t>
            </a:r>
            <a:r>
              <a:rPr spc="-40" dirty="0"/>
              <a:t>Predictions?</a:t>
            </a:r>
            <a:r>
              <a:rPr spc="-110" dirty="0"/>
              <a:t> </a:t>
            </a:r>
            <a:r>
              <a:rPr spc="-40" dirty="0"/>
              <a:t>(Feature</a:t>
            </a:r>
            <a:r>
              <a:rPr spc="-110" dirty="0"/>
              <a:t> </a:t>
            </a:r>
            <a:r>
              <a:rPr spc="-10" dirty="0"/>
              <a:t>Importance)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57490" y="1609724"/>
            <a:ext cx="107314" cy="63500"/>
            <a:chOff x="2657490" y="1609724"/>
            <a:chExt cx="107314" cy="6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7490" y="1609724"/>
              <a:ext cx="47625" cy="63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6789" y="1609724"/>
              <a:ext cx="47625" cy="635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58800" y="780256"/>
            <a:ext cx="6186170" cy="91884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500" b="1" spc="-60" dirty="0">
                <a:solidFill>
                  <a:srgbClr val="002EA6"/>
                </a:solidFill>
                <a:latin typeface="Arial"/>
                <a:cs typeface="Arial"/>
              </a:rPr>
              <a:t>Top</a:t>
            </a:r>
            <a:r>
              <a:rPr sz="1500" b="1" spc="-2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2EA6"/>
                </a:solidFill>
                <a:latin typeface="Arial"/>
                <a:cs typeface="Arial"/>
              </a:rPr>
              <a:t>Drivers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200" b="1" dirty="0">
                <a:solidFill>
                  <a:srgbClr val="002EA6"/>
                </a:solidFill>
                <a:latin typeface="Arial"/>
                <a:cs typeface="Arial"/>
              </a:rPr>
              <a:t>1. Market </a:t>
            </a:r>
            <a:r>
              <a:rPr sz="1200" b="1" spc="-10" dirty="0">
                <a:solidFill>
                  <a:srgbClr val="002EA6"/>
                </a:solidFill>
                <a:latin typeface="Arial"/>
                <a:cs typeface="Arial"/>
              </a:rPr>
              <a:t>Overextension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Moving</a:t>
            </a:r>
            <a:r>
              <a:rPr sz="11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Average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ratios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(MA₅/MA₂</a:t>
            </a:r>
            <a:r>
              <a:rPr sz="1100" spc="275" dirty="0">
                <a:solidFill>
                  <a:srgbClr val="1A1A1A"/>
                </a:solidFill>
                <a:latin typeface="Microsoft Sans Serif"/>
                <a:cs typeface="Microsoft Sans Serif"/>
              </a:rPr>
              <a:t> 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)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capture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short-term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overextension</a:t>
            </a:r>
            <a:r>
              <a:rPr sz="1100" spc="9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relative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long-term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trends.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499" y="1771649"/>
            <a:ext cx="1362075" cy="209550"/>
          </a:xfrm>
          <a:prstGeom prst="rect">
            <a:avLst/>
          </a:prstGeom>
          <a:solidFill>
            <a:srgbClr val="E63845"/>
          </a:solidFill>
        </p:spPr>
        <p:txBody>
          <a:bodyPr vert="horz" wrap="square" lIns="0" tIns="285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225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BUBBLE</a:t>
            </a:r>
            <a:r>
              <a:rPr sz="900" b="1" spc="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INDICATOR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800" y="1974976"/>
            <a:ext cx="5184140" cy="5334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00" b="1" dirty="0">
                <a:solidFill>
                  <a:srgbClr val="002EA6"/>
                </a:solidFill>
                <a:latin typeface="Arial"/>
                <a:cs typeface="Arial"/>
              </a:rPr>
              <a:t>2.</a:t>
            </a:r>
            <a:r>
              <a:rPr sz="1200" b="1" spc="-2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EA6"/>
                </a:solidFill>
                <a:latin typeface="Arial"/>
                <a:cs typeface="Arial"/>
              </a:rPr>
              <a:t>Volatility</a:t>
            </a:r>
            <a:r>
              <a:rPr sz="1200" b="1" spc="-1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EA6"/>
                </a:solidFill>
                <a:latin typeface="Arial"/>
                <a:cs typeface="Arial"/>
              </a:rPr>
              <a:t>Measures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EWMA</a:t>
            </a:r>
            <a:r>
              <a:rPr sz="11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volatility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10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ATR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act</a:t>
            </a:r>
            <a:r>
              <a:rPr sz="1100" spc="6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as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concise</a:t>
            </a:r>
            <a:r>
              <a:rPr sz="1100" spc="6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proxies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1100" spc="6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fear</a:t>
            </a:r>
            <a:r>
              <a:rPr sz="1100" spc="6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systemic</a:t>
            </a:r>
            <a:r>
              <a:rPr sz="1100" spc="6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risk.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499" y="2571749"/>
            <a:ext cx="1343025" cy="209550"/>
          </a:xfrm>
          <a:prstGeom prst="rect">
            <a:avLst/>
          </a:prstGeom>
          <a:solidFill>
            <a:srgbClr val="E63845"/>
          </a:solidFill>
        </p:spPr>
        <p:txBody>
          <a:bodyPr vert="horz" wrap="square" lIns="0" tIns="285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225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STRESS</a:t>
            </a:r>
            <a:r>
              <a:rPr sz="900" b="1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Arial"/>
                <a:cs typeface="Arial"/>
              </a:rPr>
              <a:t>INDICATOR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800" y="2775076"/>
            <a:ext cx="5603240" cy="5334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00" b="1" dirty="0">
                <a:solidFill>
                  <a:srgbClr val="002EA6"/>
                </a:solidFill>
                <a:latin typeface="Arial"/>
                <a:cs typeface="Arial"/>
              </a:rPr>
              <a:t>3. Macro </a:t>
            </a:r>
            <a:r>
              <a:rPr sz="1200" b="1" spc="-10" dirty="0">
                <a:solidFill>
                  <a:srgbClr val="002EA6"/>
                </a:solidFill>
                <a:latin typeface="Arial"/>
                <a:cs typeface="Arial"/>
              </a:rPr>
              <a:t>Fundamentals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Yield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curve,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rates,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unemployment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provide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essential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long-term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economic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context.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1499" y="3381374"/>
            <a:ext cx="1104900" cy="209550"/>
          </a:xfrm>
          <a:prstGeom prst="rect">
            <a:avLst/>
          </a:prstGeom>
          <a:solidFill>
            <a:srgbClr val="E63845"/>
          </a:solidFill>
        </p:spPr>
        <p:txBody>
          <a:bodyPr vert="horz" wrap="square" lIns="0" tIns="2857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225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SYSTEMIC</a:t>
            </a:r>
            <a:r>
              <a:rPr sz="900" b="1" spc="2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1499" y="3857624"/>
            <a:ext cx="11049000" cy="514350"/>
            <a:chOff x="571499" y="3857624"/>
            <a:chExt cx="11049000" cy="514350"/>
          </a:xfrm>
        </p:grpSpPr>
        <p:sp>
          <p:nvSpPr>
            <p:cNvPr id="13" name="object 13"/>
            <p:cNvSpPr/>
            <p:nvPr/>
          </p:nvSpPr>
          <p:spPr>
            <a:xfrm>
              <a:off x="571499" y="3857624"/>
              <a:ext cx="11049000" cy="514350"/>
            </a:xfrm>
            <a:custGeom>
              <a:avLst/>
              <a:gdLst/>
              <a:ahLst/>
              <a:cxnLst/>
              <a:rect l="l" t="t" r="r" b="b"/>
              <a:pathLst>
                <a:path w="11049000" h="514350">
                  <a:moveTo>
                    <a:pt x="1104899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514349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1499" y="3857624"/>
              <a:ext cx="38100" cy="514350"/>
            </a:xfrm>
            <a:custGeom>
              <a:avLst/>
              <a:gdLst/>
              <a:ahLst/>
              <a:cxnLst/>
              <a:rect l="l" t="t" r="r" b="b"/>
              <a:pathLst>
                <a:path w="38100" h="514350">
                  <a:moveTo>
                    <a:pt x="38099" y="514349"/>
                  </a:moveTo>
                  <a:lnTo>
                    <a:pt x="0" y="5143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514349"/>
                  </a:lnTo>
                  <a:close/>
                </a:path>
              </a:pathLst>
            </a:custGeom>
            <a:solidFill>
              <a:srgbClr val="002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9599" y="3997325"/>
            <a:ext cx="1101090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A1A1A"/>
                </a:solidFill>
                <a:latin typeface="Arial"/>
                <a:cs typeface="Arial"/>
              </a:rPr>
              <a:t>Key</a:t>
            </a:r>
            <a:r>
              <a:rPr sz="1100" b="1" spc="5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A1A1A"/>
                </a:solidFill>
                <a:latin typeface="Arial"/>
                <a:cs typeface="Arial"/>
              </a:rPr>
              <a:t>Finding:</a:t>
            </a:r>
            <a:r>
              <a:rPr sz="1100" b="1" spc="3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model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is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driven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by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blend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technical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triggers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fundamental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context,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enabling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robust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prediction.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Historical</a:t>
            </a:r>
            <a:r>
              <a:rPr spc="-100" dirty="0"/>
              <a:t> </a:t>
            </a:r>
            <a:r>
              <a:rPr spc="-50" dirty="0"/>
              <a:t>Validation</a:t>
            </a:r>
            <a:r>
              <a:rPr spc="-100" dirty="0"/>
              <a:t> </a:t>
            </a:r>
            <a:r>
              <a:rPr spc="-40" dirty="0"/>
              <a:t>(Prediction</a:t>
            </a:r>
            <a:r>
              <a:rPr spc="-100" dirty="0"/>
              <a:t> </a:t>
            </a:r>
            <a:r>
              <a:rPr spc="-10" dirty="0"/>
              <a:t>Timeline)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2219" y="796671"/>
            <a:ext cx="7147559" cy="349288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81024" y="4314824"/>
            <a:ext cx="3533775" cy="1781175"/>
          </a:xfrm>
          <a:custGeom>
            <a:avLst/>
            <a:gdLst/>
            <a:ahLst/>
            <a:cxnLst/>
            <a:rect l="l" t="t" r="r" b="b"/>
            <a:pathLst>
              <a:path w="3533775" h="1781175">
                <a:moveTo>
                  <a:pt x="0" y="0"/>
                </a:moveTo>
                <a:lnTo>
                  <a:pt x="3533774" y="0"/>
                </a:lnTo>
                <a:lnTo>
                  <a:pt x="3533774" y="1781174"/>
                </a:lnTo>
                <a:lnTo>
                  <a:pt x="0" y="178117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1024" y="4305299"/>
            <a:ext cx="3533775" cy="3810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85725" rIns="0" bIns="0" rtlCol="0">
            <a:spAutoFit/>
          </a:bodyPr>
          <a:lstStyle/>
          <a:p>
            <a:pPr marL="988694">
              <a:lnSpc>
                <a:spcPct val="100000"/>
              </a:lnSpc>
              <a:spcBef>
                <a:spcPts val="67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2000 Dot-com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Bubble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549" y="4715986"/>
            <a:ext cx="3514725" cy="94361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440"/>
              </a:spcBef>
            </a:pPr>
            <a:r>
              <a:rPr sz="1050" b="1" spc="50" dirty="0">
                <a:solidFill>
                  <a:srgbClr val="002EA6"/>
                </a:solidFill>
                <a:latin typeface="Arial"/>
                <a:cs typeface="Arial"/>
              </a:rPr>
              <a:t>YEAR</a:t>
            </a:r>
            <a:r>
              <a:rPr sz="1050" b="1" spc="14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002EA6"/>
                </a:solidFill>
                <a:latin typeface="Arial"/>
                <a:cs typeface="Arial"/>
              </a:rPr>
              <a:t>2000</a:t>
            </a:r>
            <a:endParaRPr sz="1050">
              <a:latin typeface="Arial"/>
              <a:cs typeface="Arial"/>
            </a:endParaRPr>
          </a:p>
          <a:p>
            <a:pPr marL="133350">
              <a:lnSpc>
                <a:spcPct val="100000"/>
              </a:lnSpc>
              <a:spcBef>
                <a:spcPts val="390"/>
              </a:spcBef>
            </a:pP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Tech</a:t>
            </a:r>
            <a:r>
              <a:rPr sz="12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Sector</a:t>
            </a:r>
            <a:r>
              <a:rPr sz="12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Collapse</a:t>
            </a:r>
            <a:endParaRPr sz="1200">
              <a:latin typeface="Microsoft Sans Serif"/>
              <a:cs typeface="Microsoft Sans Serif"/>
            </a:endParaRPr>
          </a:p>
          <a:p>
            <a:pPr marL="133350" marR="297180">
              <a:lnSpc>
                <a:spcPct val="125000"/>
              </a:lnSpc>
              <a:spcBef>
                <a:spcPts val="645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EWS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provided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timely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warnings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before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peak,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capturing</a:t>
            </a:r>
            <a:r>
              <a:rPr sz="1050" spc="-3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0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unsustainable</a:t>
            </a:r>
            <a:r>
              <a:rPr sz="10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valuation</a:t>
            </a:r>
            <a:r>
              <a:rPr sz="1050" spc="-3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environment.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24349" y="4314824"/>
            <a:ext cx="3543300" cy="1781175"/>
          </a:xfrm>
          <a:custGeom>
            <a:avLst/>
            <a:gdLst/>
            <a:ahLst/>
            <a:cxnLst/>
            <a:rect l="l" t="t" r="r" b="b"/>
            <a:pathLst>
              <a:path w="3543300" h="1781175">
                <a:moveTo>
                  <a:pt x="0" y="0"/>
                </a:moveTo>
                <a:lnTo>
                  <a:pt x="3543299" y="0"/>
                </a:lnTo>
                <a:lnTo>
                  <a:pt x="3543299" y="1781174"/>
                </a:lnTo>
                <a:lnTo>
                  <a:pt x="0" y="178117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24349" y="4305299"/>
            <a:ext cx="3543300" cy="3810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85725" rIns="0" bIns="0" rtlCol="0">
            <a:spAutoFit/>
          </a:bodyPr>
          <a:lstStyle/>
          <a:p>
            <a:pPr marL="1017269">
              <a:lnSpc>
                <a:spcPct val="100000"/>
              </a:lnSpc>
              <a:spcBef>
                <a:spcPts val="67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2008</a:t>
            </a:r>
            <a:r>
              <a:rPr sz="1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Financial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Crisis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3874" y="4715986"/>
            <a:ext cx="3524250" cy="11436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440"/>
              </a:spcBef>
            </a:pPr>
            <a:r>
              <a:rPr sz="1050" b="1" spc="50" dirty="0">
                <a:solidFill>
                  <a:srgbClr val="002EA6"/>
                </a:solidFill>
                <a:latin typeface="Arial"/>
                <a:cs typeface="Arial"/>
              </a:rPr>
              <a:t>YEAR</a:t>
            </a:r>
            <a:r>
              <a:rPr sz="1050" b="1" spc="14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002EA6"/>
                </a:solidFill>
                <a:latin typeface="Arial"/>
                <a:cs typeface="Arial"/>
              </a:rPr>
              <a:t>2008</a:t>
            </a:r>
            <a:endParaRPr sz="1050">
              <a:latin typeface="Arial"/>
              <a:cs typeface="Arial"/>
            </a:endParaRPr>
          </a:p>
          <a:p>
            <a:pPr marL="135890">
              <a:lnSpc>
                <a:spcPct val="100000"/>
              </a:lnSpc>
              <a:spcBef>
                <a:spcPts val="390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Global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2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Meltdown</a:t>
            </a:r>
            <a:endParaRPr sz="1200">
              <a:latin typeface="Microsoft Sans Serif"/>
              <a:cs typeface="Microsoft Sans Serif"/>
            </a:endParaRPr>
          </a:p>
          <a:p>
            <a:pPr marL="135890" marR="407670">
              <a:lnSpc>
                <a:spcPct val="125000"/>
              </a:lnSpc>
              <a:spcBef>
                <a:spcPts val="645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Early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signals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detected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deteriorating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credit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conditions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systemic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risk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buildup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preceding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the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77199" y="4314824"/>
            <a:ext cx="3533775" cy="1781175"/>
          </a:xfrm>
          <a:custGeom>
            <a:avLst/>
            <a:gdLst/>
            <a:ahLst/>
            <a:cxnLst/>
            <a:rect l="l" t="t" r="r" b="b"/>
            <a:pathLst>
              <a:path w="3533775" h="1781175">
                <a:moveTo>
                  <a:pt x="0" y="0"/>
                </a:moveTo>
                <a:lnTo>
                  <a:pt x="3533774" y="0"/>
                </a:lnTo>
                <a:lnTo>
                  <a:pt x="3533774" y="1781174"/>
                </a:lnTo>
                <a:lnTo>
                  <a:pt x="0" y="178117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77199" y="4305299"/>
            <a:ext cx="3533775" cy="381000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85725" rIns="0" bIns="0" rtlCol="0">
            <a:spAutoFit/>
          </a:bodyPr>
          <a:lstStyle/>
          <a:p>
            <a:pPr marL="985519">
              <a:lnSpc>
                <a:spcPct val="100000"/>
              </a:lnSpc>
              <a:spcBef>
                <a:spcPts val="67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2020 COVID-19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Crash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86724" y="4715986"/>
            <a:ext cx="3514725" cy="94361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440"/>
              </a:spcBef>
            </a:pPr>
            <a:r>
              <a:rPr sz="1050" b="1" spc="50" dirty="0">
                <a:solidFill>
                  <a:srgbClr val="002EA6"/>
                </a:solidFill>
                <a:latin typeface="Arial"/>
                <a:cs typeface="Arial"/>
              </a:rPr>
              <a:t>YEAR</a:t>
            </a:r>
            <a:r>
              <a:rPr sz="1050" b="1" spc="14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30" dirty="0">
                <a:solidFill>
                  <a:srgbClr val="002EA6"/>
                </a:solidFill>
                <a:latin typeface="Arial"/>
                <a:cs typeface="Arial"/>
              </a:rPr>
              <a:t>2020</a:t>
            </a:r>
            <a:endParaRPr sz="1050">
              <a:latin typeface="Arial"/>
              <a:cs typeface="Arial"/>
            </a:endParaRPr>
          </a:p>
          <a:p>
            <a:pPr marL="129539">
              <a:lnSpc>
                <a:spcPct val="100000"/>
              </a:lnSpc>
              <a:spcBef>
                <a:spcPts val="390"/>
              </a:spcBef>
            </a:pP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Pandemic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20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Shock</a:t>
            </a:r>
            <a:endParaRPr sz="1200">
              <a:latin typeface="Microsoft Sans Serif"/>
              <a:cs typeface="Microsoft Sans Serif"/>
            </a:endParaRPr>
          </a:p>
          <a:p>
            <a:pPr marL="129539" marR="256540">
              <a:lnSpc>
                <a:spcPct val="125000"/>
              </a:lnSpc>
              <a:spcBef>
                <a:spcPts val="645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model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captured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sharp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volatility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spike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and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stress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indicators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preceding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sharp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decline.</a:t>
            </a:r>
            <a:endParaRPr sz="105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1499" y="6257924"/>
            <a:ext cx="11049000" cy="485775"/>
            <a:chOff x="571499" y="6257924"/>
            <a:chExt cx="11049000" cy="485775"/>
          </a:xfrm>
        </p:grpSpPr>
        <p:sp>
          <p:nvSpPr>
            <p:cNvPr id="14" name="object 14"/>
            <p:cNvSpPr/>
            <p:nvPr/>
          </p:nvSpPr>
          <p:spPr>
            <a:xfrm>
              <a:off x="571499" y="6257924"/>
              <a:ext cx="11049000" cy="485775"/>
            </a:xfrm>
            <a:custGeom>
              <a:avLst/>
              <a:gdLst/>
              <a:ahLst/>
              <a:cxnLst/>
              <a:rect l="l" t="t" r="r" b="b"/>
              <a:pathLst>
                <a:path w="11049000" h="485775">
                  <a:moveTo>
                    <a:pt x="11048999" y="485774"/>
                  </a:moveTo>
                  <a:lnTo>
                    <a:pt x="0" y="485774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485774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1499" y="6257924"/>
              <a:ext cx="38100" cy="485775"/>
            </a:xfrm>
            <a:custGeom>
              <a:avLst/>
              <a:gdLst/>
              <a:ahLst/>
              <a:cxnLst/>
              <a:rect l="l" t="t" r="r" b="b"/>
              <a:pathLst>
                <a:path w="38100" h="485775">
                  <a:moveTo>
                    <a:pt x="38099" y="485774"/>
                  </a:moveTo>
                  <a:lnTo>
                    <a:pt x="0" y="4857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85774"/>
                  </a:lnTo>
                  <a:close/>
                </a:path>
              </a:pathLst>
            </a:custGeom>
            <a:solidFill>
              <a:srgbClr val="E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9599" y="6378574"/>
            <a:ext cx="1101090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2815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1A1A1A"/>
                </a:solidFill>
                <a:latin typeface="Arial"/>
                <a:cs typeface="Arial"/>
              </a:rPr>
              <a:t>Key</a:t>
            </a:r>
            <a:r>
              <a:rPr sz="1100" b="1" spc="5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1A1A1A"/>
                </a:solidFill>
                <a:latin typeface="Arial"/>
                <a:cs typeface="Arial"/>
              </a:rPr>
              <a:t>Finding:</a:t>
            </a:r>
            <a:r>
              <a:rPr sz="1100" b="1" spc="-1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Alarms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initiated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before</a:t>
            </a:r>
            <a:r>
              <a:rPr sz="1100" b="1" spc="5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peak</a:t>
            </a:r>
            <a:r>
              <a:rPr sz="1100" b="1" spc="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prices</a:t>
            </a:r>
            <a:r>
              <a:rPr sz="1100" b="1" spc="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with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60+</a:t>
            </a:r>
            <a:r>
              <a:rPr sz="1100" b="1" spc="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day</a:t>
            </a:r>
            <a:r>
              <a:rPr sz="1100" b="1" spc="5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lead</a:t>
            </a:r>
            <a:r>
              <a:rPr sz="1100" b="1" spc="6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E63845"/>
                </a:solidFill>
                <a:latin typeface="Arial"/>
                <a:cs typeface="Arial"/>
              </a:rPr>
              <a:t>time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,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validating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real-world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applicability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60-day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prediction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window.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Key</a:t>
            </a:r>
            <a:r>
              <a:rPr spc="-165" dirty="0"/>
              <a:t> </a:t>
            </a:r>
            <a:r>
              <a:rPr spc="-45" dirty="0"/>
              <a:t>Achievements</a:t>
            </a:r>
            <a:r>
              <a:rPr spc="-110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30" dirty="0"/>
              <a:t>Future</a:t>
            </a:r>
            <a:r>
              <a:rPr spc="-90" dirty="0"/>
              <a:t> </a:t>
            </a:r>
            <a:r>
              <a:rPr spc="-10" dirty="0"/>
              <a:t>Directions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800" y="844550"/>
            <a:ext cx="183832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20" dirty="0">
                <a:solidFill>
                  <a:srgbClr val="002EA6"/>
                </a:solidFill>
                <a:latin typeface="Arial"/>
                <a:cs typeface="Arial"/>
              </a:rPr>
              <a:t>Key</a:t>
            </a:r>
            <a:r>
              <a:rPr sz="1650" b="1" spc="-10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650" b="1" spc="-20" dirty="0">
                <a:solidFill>
                  <a:srgbClr val="002EA6"/>
                </a:solidFill>
                <a:latin typeface="Arial"/>
                <a:cs typeface="Arial"/>
              </a:rPr>
              <a:t>Achievements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1024" y="1266824"/>
            <a:ext cx="5448300" cy="933450"/>
          </a:xfrm>
          <a:custGeom>
            <a:avLst/>
            <a:gdLst/>
            <a:ahLst/>
            <a:cxnLst/>
            <a:rect l="l" t="t" r="r" b="b"/>
            <a:pathLst>
              <a:path w="5448300" h="933450">
                <a:moveTo>
                  <a:pt x="0" y="0"/>
                </a:moveTo>
                <a:lnTo>
                  <a:pt x="5448299" y="0"/>
                </a:lnTo>
                <a:lnTo>
                  <a:pt x="5448299" y="933449"/>
                </a:lnTo>
                <a:lnTo>
                  <a:pt x="0" y="9334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1024" y="1257299"/>
            <a:ext cx="5448300" cy="333375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sz="11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Achievement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549" y="1606550"/>
            <a:ext cx="542925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0" marR="409575">
              <a:lnSpc>
                <a:spcPct val="1307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Developed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reliable,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look-ahead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bias-free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pipeline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merging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high-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low-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frequency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financial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time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series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using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chronological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forward-fill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imputation.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62674" y="1266824"/>
            <a:ext cx="5448300" cy="933450"/>
          </a:xfrm>
          <a:custGeom>
            <a:avLst/>
            <a:gdLst/>
            <a:ahLst/>
            <a:cxnLst/>
            <a:rect l="l" t="t" r="r" b="b"/>
            <a:pathLst>
              <a:path w="5448300" h="933450">
                <a:moveTo>
                  <a:pt x="0" y="0"/>
                </a:moveTo>
                <a:lnTo>
                  <a:pt x="5448299" y="0"/>
                </a:lnTo>
                <a:lnTo>
                  <a:pt x="5448299" y="933449"/>
                </a:lnTo>
                <a:lnTo>
                  <a:pt x="0" y="9334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62674" y="1257299"/>
            <a:ext cx="5448300" cy="333375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Methodological</a:t>
            </a:r>
            <a:r>
              <a:rPr sz="1100" b="1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Rigor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2199" y="1606550"/>
            <a:ext cx="542925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0" marR="355600">
              <a:lnSpc>
                <a:spcPct val="1307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Applied</a:t>
            </a:r>
            <a:r>
              <a:rPr sz="1100" spc="9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advanced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imbalance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techniques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(SMOTE-Tomek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resampling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and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aggressive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cost-sensitive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weighting)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optimize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critical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metric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Recall.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1024" y="2333624"/>
            <a:ext cx="5448300" cy="1447800"/>
          </a:xfrm>
          <a:custGeom>
            <a:avLst/>
            <a:gdLst/>
            <a:ahLst/>
            <a:cxnLst/>
            <a:rect l="l" t="t" r="r" b="b"/>
            <a:pathLst>
              <a:path w="5448300" h="1447800">
                <a:moveTo>
                  <a:pt x="0" y="0"/>
                </a:moveTo>
                <a:lnTo>
                  <a:pt x="5448299" y="0"/>
                </a:lnTo>
                <a:lnTo>
                  <a:pt x="5448299" y="1447799"/>
                </a:lnTo>
                <a:lnTo>
                  <a:pt x="0" y="14477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1024" y="2324099"/>
            <a:ext cx="5448300" cy="333375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1100" b="1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0549" y="2620962"/>
            <a:ext cx="5429250" cy="102108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910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Achieved</a:t>
            </a:r>
            <a:r>
              <a:rPr sz="1100" spc="1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state-of-the-art</a:t>
            </a:r>
            <a:r>
              <a:rPr sz="1100" spc="114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detection</a:t>
            </a:r>
            <a:r>
              <a:rPr sz="1100" spc="1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performance:</a:t>
            </a:r>
            <a:endParaRPr sz="1100">
              <a:latin typeface="Microsoft Sans Serif"/>
              <a:cs typeface="Microsoft Sans Serif"/>
            </a:endParaRPr>
          </a:p>
          <a:p>
            <a:pPr marL="95250">
              <a:lnSpc>
                <a:spcPct val="100000"/>
              </a:lnSpc>
              <a:spcBef>
                <a:spcPts val="1055"/>
              </a:spcBef>
            </a:pPr>
            <a:r>
              <a:rPr sz="1500" b="1" dirty="0">
                <a:solidFill>
                  <a:srgbClr val="E63845"/>
                </a:solidFill>
                <a:latin typeface="Arial"/>
                <a:cs typeface="Arial"/>
              </a:rPr>
              <a:t>93.57%</a:t>
            </a:r>
            <a:r>
              <a:rPr sz="1500" b="1" spc="-55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E63845"/>
                </a:solidFill>
                <a:latin typeface="Arial"/>
                <a:cs typeface="Arial"/>
              </a:rPr>
              <a:t>Recall</a:t>
            </a:r>
            <a:endParaRPr sz="1500">
              <a:latin typeface="Arial"/>
              <a:cs typeface="Arial"/>
            </a:endParaRPr>
          </a:p>
          <a:p>
            <a:pPr marL="95250">
              <a:lnSpc>
                <a:spcPct val="100000"/>
              </a:lnSpc>
              <a:spcBef>
                <a:spcPts val="1050"/>
              </a:spcBef>
            </a:pPr>
            <a:r>
              <a:rPr sz="1500" b="1" dirty="0">
                <a:solidFill>
                  <a:srgbClr val="E63845"/>
                </a:solidFill>
                <a:latin typeface="Arial"/>
                <a:cs typeface="Arial"/>
              </a:rPr>
              <a:t>0.93</a:t>
            </a:r>
            <a:r>
              <a:rPr sz="1500" b="1" spc="-9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E63845"/>
                </a:solidFill>
                <a:latin typeface="Arial"/>
                <a:cs typeface="Arial"/>
              </a:rPr>
              <a:t>AUC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62674" y="2333624"/>
            <a:ext cx="5448300" cy="1447800"/>
          </a:xfrm>
          <a:custGeom>
            <a:avLst/>
            <a:gdLst/>
            <a:ahLst/>
            <a:cxnLst/>
            <a:rect l="l" t="t" r="r" b="b"/>
            <a:pathLst>
              <a:path w="5448300" h="1447800">
                <a:moveTo>
                  <a:pt x="0" y="0"/>
                </a:moveTo>
                <a:lnTo>
                  <a:pt x="5448299" y="0"/>
                </a:lnTo>
                <a:lnTo>
                  <a:pt x="5448299" y="1447799"/>
                </a:lnTo>
                <a:lnTo>
                  <a:pt x="0" y="14477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62674" y="2324099"/>
            <a:ext cx="5448300" cy="333375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Practical</a:t>
            </a:r>
            <a:r>
              <a:rPr sz="110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72199" y="2673350"/>
            <a:ext cx="542925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0" marR="235585">
              <a:lnSpc>
                <a:spcPct val="1307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Successfully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validated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EWS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on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three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major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historical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crashes: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2000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Dot-</a:t>
            </a:r>
            <a:r>
              <a:rPr sz="11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com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Bubble,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2008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Financial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Crisis,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2020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COVID-19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499" y="4114799"/>
            <a:ext cx="11049000" cy="19050"/>
          </a:xfrm>
          <a:custGeom>
            <a:avLst/>
            <a:gdLst/>
            <a:ahLst/>
            <a:cxnLst/>
            <a:rect l="l" t="t" r="r" b="b"/>
            <a:pathLst>
              <a:path w="11049000" h="19050">
                <a:moveTo>
                  <a:pt x="11048999" y="19049"/>
                </a:moveTo>
                <a:lnTo>
                  <a:pt x="0" y="1904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19049"/>
                </a:lnTo>
                <a:close/>
              </a:path>
            </a:pathLst>
          </a:custGeom>
          <a:solidFill>
            <a:srgbClr val="E638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58800" y="4216400"/>
            <a:ext cx="269113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25" dirty="0">
                <a:solidFill>
                  <a:srgbClr val="002EA6"/>
                </a:solidFill>
                <a:latin typeface="Arial"/>
                <a:cs typeface="Arial"/>
              </a:rPr>
              <a:t>Future</a:t>
            </a:r>
            <a:r>
              <a:rPr sz="1650" b="1" spc="-6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650" b="1" spc="-20" dirty="0">
                <a:solidFill>
                  <a:srgbClr val="002EA6"/>
                </a:solidFill>
                <a:latin typeface="Arial"/>
                <a:cs typeface="Arial"/>
              </a:rPr>
              <a:t>Research</a:t>
            </a:r>
            <a:r>
              <a:rPr sz="1650" b="1" spc="-65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002EA6"/>
                </a:solidFill>
                <a:latin typeface="Arial"/>
                <a:cs typeface="Arial"/>
              </a:rPr>
              <a:t>Directions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1024" y="4638674"/>
            <a:ext cx="3590925" cy="1533525"/>
          </a:xfrm>
          <a:custGeom>
            <a:avLst/>
            <a:gdLst/>
            <a:ahLst/>
            <a:cxnLst/>
            <a:rect l="l" t="t" r="r" b="b"/>
            <a:pathLst>
              <a:path w="3590925" h="1533525">
                <a:moveTo>
                  <a:pt x="0" y="0"/>
                </a:moveTo>
                <a:lnTo>
                  <a:pt x="3590924" y="0"/>
                </a:lnTo>
                <a:lnTo>
                  <a:pt x="3590924" y="1533524"/>
                </a:lnTo>
                <a:lnTo>
                  <a:pt x="0" y="153352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E6384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81024" y="4629149"/>
            <a:ext cx="3590925" cy="333375"/>
          </a:xfrm>
          <a:prstGeom prst="rect">
            <a:avLst/>
          </a:prstGeom>
          <a:solidFill>
            <a:srgbClr val="E63845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Dynamic</a:t>
            </a:r>
            <a:r>
              <a:rPr sz="110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Thresholding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95312" y="5124450"/>
            <a:ext cx="38100" cy="809625"/>
          </a:xfrm>
          <a:custGeom>
            <a:avLst/>
            <a:gdLst/>
            <a:ahLst/>
            <a:cxnLst/>
            <a:rect l="l" t="t" r="r" b="b"/>
            <a:pathLst>
              <a:path w="38100" h="809625">
                <a:moveTo>
                  <a:pt x="38100" y="788060"/>
                </a:moveTo>
                <a:lnTo>
                  <a:pt x="21577" y="771525"/>
                </a:lnTo>
                <a:lnTo>
                  <a:pt x="16535" y="771525"/>
                </a:lnTo>
                <a:lnTo>
                  <a:pt x="0" y="788060"/>
                </a:lnTo>
                <a:lnTo>
                  <a:pt x="0" y="793102"/>
                </a:lnTo>
                <a:lnTo>
                  <a:pt x="16535" y="809625"/>
                </a:lnTo>
                <a:lnTo>
                  <a:pt x="21577" y="809625"/>
                </a:lnTo>
                <a:lnTo>
                  <a:pt x="38100" y="793102"/>
                </a:lnTo>
                <a:lnTo>
                  <a:pt x="38100" y="790575"/>
                </a:lnTo>
                <a:lnTo>
                  <a:pt x="38100" y="788060"/>
                </a:lnTo>
                <a:close/>
              </a:path>
              <a:path w="38100" h="809625">
                <a:moveTo>
                  <a:pt x="38100" y="530885"/>
                </a:moveTo>
                <a:lnTo>
                  <a:pt x="21577" y="514350"/>
                </a:lnTo>
                <a:lnTo>
                  <a:pt x="16535" y="514350"/>
                </a:lnTo>
                <a:lnTo>
                  <a:pt x="0" y="530885"/>
                </a:lnTo>
                <a:lnTo>
                  <a:pt x="0" y="535927"/>
                </a:lnTo>
                <a:lnTo>
                  <a:pt x="16535" y="552450"/>
                </a:lnTo>
                <a:lnTo>
                  <a:pt x="21577" y="552450"/>
                </a:lnTo>
                <a:lnTo>
                  <a:pt x="38100" y="535927"/>
                </a:lnTo>
                <a:lnTo>
                  <a:pt x="38100" y="533400"/>
                </a:lnTo>
                <a:lnTo>
                  <a:pt x="38100" y="530885"/>
                </a:lnTo>
                <a:close/>
              </a:path>
              <a:path w="38100" h="809625">
                <a:moveTo>
                  <a:pt x="38100" y="273697"/>
                </a:moveTo>
                <a:lnTo>
                  <a:pt x="21577" y="257175"/>
                </a:lnTo>
                <a:lnTo>
                  <a:pt x="16535" y="257175"/>
                </a:lnTo>
                <a:lnTo>
                  <a:pt x="0" y="273697"/>
                </a:lnTo>
                <a:lnTo>
                  <a:pt x="0" y="278752"/>
                </a:lnTo>
                <a:lnTo>
                  <a:pt x="16535" y="295275"/>
                </a:lnTo>
                <a:lnTo>
                  <a:pt x="21577" y="295275"/>
                </a:lnTo>
                <a:lnTo>
                  <a:pt x="38100" y="278752"/>
                </a:lnTo>
                <a:lnTo>
                  <a:pt x="38100" y="276225"/>
                </a:lnTo>
                <a:lnTo>
                  <a:pt x="38100" y="273697"/>
                </a:lnTo>
                <a:close/>
              </a:path>
              <a:path w="38100" h="809625">
                <a:moveTo>
                  <a:pt x="38100" y="16535"/>
                </a:moveTo>
                <a:lnTo>
                  <a:pt x="21577" y="0"/>
                </a:lnTo>
                <a:lnTo>
                  <a:pt x="16535" y="0"/>
                </a:lnTo>
                <a:lnTo>
                  <a:pt x="0" y="16535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3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90549" y="5035550"/>
            <a:ext cx="3571875" cy="956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Adapt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threshold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volatility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regimes</a:t>
            </a:r>
            <a:endParaRPr sz="1050">
              <a:latin typeface="Microsoft Sans Serif"/>
              <a:cs typeface="Microsoft Sans Serif"/>
            </a:endParaRPr>
          </a:p>
          <a:p>
            <a:pPr marL="247650" marR="1167130">
              <a:lnSpc>
                <a:spcPct val="160700"/>
              </a:lnSpc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Use VIX</a:t>
            </a:r>
            <a:r>
              <a:rPr sz="105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or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VIX-to-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average</a:t>
            </a:r>
            <a:r>
              <a:rPr sz="1050" spc="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ratio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Reduce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false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alarms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in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calm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periods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Maintain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high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recall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during</a:t>
            </a:r>
            <a:r>
              <a:rPr sz="1050" spc="-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stress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05299" y="4638674"/>
            <a:ext cx="3581400" cy="1533525"/>
          </a:xfrm>
          <a:custGeom>
            <a:avLst/>
            <a:gdLst/>
            <a:ahLst/>
            <a:cxnLst/>
            <a:rect l="l" t="t" r="r" b="b"/>
            <a:pathLst>
              <a:path w="3581400" h="1533525">
                <a:moveTo>
                  <a:pt x="0" y="0"/>
                </a:moveTo>
                <a:lnTo>
                  <a:pt x="3581399" y="0"/>
                </a:lnTo>
                <a:lnTo>
                  <a:pt x="3581399" y="1533524"/>
                </a:lnTo>
                <a:lnTo>
                  <a:pt x="0" y="153352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E6384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305299" y="4629149"/>
            <a:ext cx="3581400" cy="333375"/>
          </a:xfrm>
          <a:prstGeom prst="rect">
            <a:avLst/>
          </a:prstGeom>
          <a:solidFill>
            <a:srgbClr val="E63845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Alternative</a:t>
            </a:r>
            <a:r>
              <a:rPr sz="11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1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19587" y="5124450"/>
            <a:ext cx="38100" cy="809625"/>
          </a:xfrm>
          <a:custGeom>
            <a:avLst/>
            <a:gdLst/>
            <a:ahLst/>
            <a:cxnLst/>
            <a:rect l="l" t="t" r="r" b="b"/>
            <a:pathLst>
              <a:path w="38100" h="809625">
                <a:moveTo>
                  <a:pt x="38100" y="788060"/>
                </a:moveTo>
                <a:lnTo>
                  <a:pt x="21577" y="771525"/>
                </a:lnTo>
                <a:lnTo>
                  <a:pt x="16535" y="771525"/>
                </a:lnTo>
                <a:lnTo>
                  <a:pt x="0" y="788060"/>
                </a:lnTo>
                <a:lnTo>
                  <a:pt x="0" y="793102"/>
                </a:lnTo>
                <a:lnTo>
                  <a:pt x="16535" y="809625"/>
                </a:lnTo>
                <a:lnTo>
                  <a:pt x="21577" y="809625"/>
                </a:lnTo>
                <a:lnTo>
                  <a:pt x="38100" y="793102"/>
                </a:lnTo>
                <a:lnTo>
                  <a:pt x="38100" y="790575"/>
                </a:lnTo>
                <a:lnTo>
                  <a:pt x="38100" y="788060"/>
                </a:lnTo>
                <a:close/>
              </a:path>
              <a:path w="38100" h="809625">
                <a:moveTo>
                  <a:pt x="38100" y="530885"/>
                </a:moveTo>
                <a:lnTo>
                  <a:pt x="21577" y="514350"/>
                </a:lnTo>
                <a:lnTo>
                  <a:pt x="16535" y="514350"/>
                </a:lnTo>
                <a:lnTo>
                  <a:pt x="0" y="530885"/>
                </a:lnTo>
                <a:lnTo>
                  <a:pt x="0" y="535927"/>
                </a:lnTo>
                <a:lnTo>
                  <a:pt x="16535" y="552450"/>
                </a:lnTo>
                <a:lnTo>
                  <a:pt x="21577" y="552450"/>
                </a:lnTo>
                <a:lnTo>
                  <a:pt x="38100" y="535927"/>
                </a:lnTo>
                <a:lnTo>
                  <a:pt x="38100" y="533400"/>
                </a:lnTo>
                <a:lnTo>
                  <a:pt x="38100" y="530885"/>
                </a:lnTo>
                <a:close/>
              </a:path>
              <a:path w="38100" h="809625">
                <a:moveTo>
                  <a:pt x="38100" y="273697"/>
                </a:moveTo>
                <a:lnTo>
                  <a:pt x="21577" y="257175"/>
                </a:lnTo>
                <a:lnTo>
                  <a:pt x="16535" y="257175"/>
                </a:lnTo>
                <a:lnTo>
                  <a:pt x="0" y="273697"/>
                </a:lnTo>
                <a:lnTo>
                  <a:pt x="0" y="278752"/>
                </a:lnTo>
                <a:lnTo>
                  <a:pt x="16535" y="295275"/>
                </a:lnTo>
                <a:lnTo>
                  <a:pt x="21577" y="295275"/>
                </a:lnTo>
                <a:lnTo>
                  <a:pt x="38100" y="278752"/>
                </a:lnTo>
                <a:lnTo>
                  <a:pt x="38100" y="276225"/>
                </a:lnTo>
                <a:lnTo>
                  <a:pt x="38100" y="273697"/>
                </a:lnTo>
                <a:close/>
              </a:path>
              <a:path w="38100" h="809625">
                <a:moveTo>
                  <a:pt x="38100" y="16535"/>
                </a:moveTo>
                <a:lnTo>
                  <a:pt x="21577" y="0"/>
                </a:lnTo>
                <a:lnTo>
                  <a:pt x="16535" y="0"/>
                </a:lnTo>
                <a:lnTo>
                  <a:pt x="0" y="16535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3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314824" y="5035550"/>
            <a:ext cx="3562350" cy="956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Sentiment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analysis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from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news</a:t>
            </a:r>
            <a:endParaRPr sz="1050">
              <a:latin typeface="Microsoft Sans Serif"/>
              <a:cs typeface="Microsoft Sans Serif"/>
            </a:endParaRPr>
          </a:p>
          <a:p>
            <a:pPr marL="243840" marR="1909445">
              <a:lnSpc>
                <a:spcPct val="160700"/>
              </a:lnSpc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Social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media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indicators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Liquidity</a:t>
            </a:r>
            <a:r>
              <a:rPr sz="1050" spc="-3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measures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Credit</a:t>
            </a:r>
            <a:r>
              <a:rPr sz="105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spread</a:t>
            </a: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dynamics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20049" y="4638674"/>
            <a:ext cx="3590925" cy="1533525"/>
          </a:xfrm>
          <a:custGeom>
            <a:avLst/>
            <a:gdLst/>
            <a:ahLst/>
            <a:cxnLst/>
            <a:rect l="l" t="t" r="r" b="b"/>
            <a:pathLst>
              <a:path w="3590925" h="1533525">
                <a:moveTo>
                  <a:pt x="0" y="0"/>
                </a:moveTo>
                <a:lnTo>
                  <a:pt x="3590924" y="0"/>
                </a:lnTo>
                <a:lnTo>
                  <a:pt x="3590924" y="1533524"/>
                </a:lnTo>
                <a:lnTo>
                  <a:pt x="0" y="1533524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E6384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020049" y="4629149"/>
            <a:ext cx="3590925" cy="333375"/>
          </a:xfrm>
          <a:prstGeom prst="rect">
            <a:avLst/>
          </a:prstGeom>
          <a:solidFill>
            <a:srgbClr val="E63845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6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Enhanced</a:t>
            </a:r>
            <a:r>
              <a:rPr sz="11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134337" y="5124450"/>
            <a:ext cx="38100" cy="809625"/>
          </a:xfrm>
          <a:custGeom>
            <a:avLst/>
            <a:gdLst/>
            <a:ahLst/>
            <a:cxnLst/>
            <a:rect l="l" t="t" r="r" b="b"/>
            <a:pathLst>
              <a:path w="38100" h="809625">
                <a:moveTo>
                  <a:pt x="38100" y="788060"/>
                </a:moveTo>
                <a:lnTo>
                  <a:pt x="21577" y="771525"/>
                </a:lnTo>
                <a:lnTo>
                  <a:pt x="16522" y="771525"/>
                </a:lnTo>
                <a:lnTo>
                  <a:pt x="0" y="788060"/>
                </a:lnTo>
                <a:lnTo>
                  <a:pt x="0" y="793102"/>
                </a:lnTo>
                <a:lnTo>
                  <a:pt x="16522" y="809625"/>
                </a:lnTo>
                <a:lnTo>
                  <a:pt x="21577" y="809625"/>
                </a:lnTo>
                <a:lnTo>
                  <a:pt x="38100" y="793102"/>
                </a:lnTo>
                <a:lnTo>
                  <a:pt x="38100" y="790575"/>
                </a:lnTo>
                <a:lnTo>
                  <a:pt x="38100" y="788060"/>
                </a:lnTo>
                <a:close/>
              </a:path>
              <a:path w="38100" h="809625">
                <a:moveTo>
                  <a:pt x="38100" y="530885"/>
                </a:moveTo>
                <a:lnTo>
                  <a:pt x="21577" y="514350"/>
                </a:lnTo>
                <a:lnTo>
                  <a:pt x="16522" y="514350"/>
                </a:lnTo>
                <a:lnTo>
                  <a:pt x="0" y="530885"/>
                </a:lnTo>
                <a:lnTo>
                  <a:pt x="0" y="535927"/>
                </a:lnTo>
                <a:lnTo>
                  <a:pt x="16522" y="552450"/>
                </a:lnTo>
                <a:lnTo>
                  <a:pt x="21577" y="552450"/>
                </a:lnTo>
                <a:lnTo>
                  <a:pt x="38100" y="535927"/>
                </a:lnTo>
                <a:lnTo>
                  <a:pt x="38100" y="533400"/>
                </a:lnTo>
                <a:lnTo>
                  <a:pt x="38100" y="530885"/>
                </a:lnTo>
                <a:close/>
              </a:path>
              <a:path w="38100" h="809625">
                <a:moveTo>
                  <a:pt x="38100" y="273697"/>
                </a:moveTo>
                <a:lnTo>
                  <a:pt x="21577" y="257175"/>
                </a:lnTo>
                <a:lnTo>
                  <a:pt x="16522" y="257175"/>
                </a:lnTo>
                <a:lnTo>
                  <a:pt x="0" y="273697"/>
                </a:lnTo>
                <a:lnTo>
                  <a:pt x="0" y="278752"/>
                </a:lnTo>
                <a:lnTo>
                  <a:pt x="16522" y="295275"/>
                </a:lnTo>
                <a:lnTo>
                  <a:pt x="21577" y="295275"/>
                </a:lnTo>
                <a:lnTo>
                  <a:pt x="38100" y="278752"/>
                </a:lnTo>
                <a:lnTo>
                  <a:pt x="38100" y="276225"/>
                </a:lnTo>
                <a:lnTo>
                  <a:pt x="38100" y="273697"/>
                </a:lnTo>
                <a:close/>
              </a:path>
              <a:path w="38100" h="809625">
                <a:moveTo>
                  <a:pt x="38100" y="16535"/>
                </a:moveTo>
                <a:lnTo>
                  <a:pt x="21577" y="0"/>
                </a:lnTo>
                <a:lnTo>
                  <a:pt x="16522" y="0"/>
                </a:lnTo>
                <a:lnTo>
                  <a:pt x="0" y="16535"/>
                </a:lnTo>
                <a:lnTo>
                  <a:pt x="0" y="21577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35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029574" y="5035550"/>
            <a:ext cx="3571875" cy="956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1A1A1A"/>
                </a:solidFill>
                <a:latin typeface="Microsoft Sans Serif"/>
                <a:cs typeface="Microsoft Sans Serif"/>
              </a:rPr>
              <a:t>Walk-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forward</a:t>
            </a:r>
            <a:r>
              <a:rPr sz="1050" spc="4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cross-validation</a:t>
            </a:r>
            <a:endParaRPr sz="1050">
              <a:latin typeface="Microsoft Sans Serif"/>
              <a:cs typeface="Microsoft Sans Serif"/>
            </a:endParaRPr>
          </a:p>
          <a:p>
            <a:pPr marL="250190" marR="1600835">
              <a:lnSpc>
                <a:spcPct val="160700"/>
              </a:lnSpc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Hyperparameter</a:t>
            </a:r>
            <a:r>
              <a:rPr sz="1050" spc="-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optimization Out-of-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sample</a:t>
            </a:r>
            <a:r>
              <a:rPr sz="1050" spc="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testing</a:t>
            </a:r>
            <a:endParaRPr sz="1050">
              <a:latin typeface="Microsoft Sans Serif"/>
              <a:cs typeface="Microsoft Sans Serif"/>
            </a:endParaRPr>
          </a:p>
          <a:p>
            <a:pPr marL="250190">
              <a:lnSpc>
                <a:spcPct val="100000"/>
              </a:lnSpc>
              <a:spcBef>
                <a:spcPts val="765"/>
              </a:spcBef>
            </a:pP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Stress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testing</a:t>
            </a:r>
            <a:r>
              <a:rPr sz="10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on</a:t>
            </a:r>
            <a:r>
              <a:rPr sz="10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1A1A1A"/>
                </a:solidFill>
                <a:latin typeface="Microsoft Sans Serif"/>
                <a:cs typeface="Microsoft Sans Serif"/>
              </a:rPr>
              <a:t>new</a:t>
            </a:r>
            <a:r>
              <a:rPr sz="10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regimes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Conclusions</a:t>
            </a:r>
            <a:r>
              <a:rPr spc="-95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45" dirty="0"/>
              <a:t>Takeaways</a:t>
            </a:r>
          </a:p>
        </p:txBody>
      </p:sp>
      <p:sp>
        <p:nvSpPr>
          <p:cNvPr id="3" name="object 3"/>
          <p:cNvSpPr/>
          <p:nvPr/>
        </p:nvSpPr>
        <p:spPr>
          <a:xfrm>
            <a:off x="581024" y="962024"/>
            <a:ext cx="5429250" cy="1104900"/>
          </a:xfrm>
          <a:custGeom>
            <a:avLst/>
            <a:gdLst/>
            <a:ahLst/>
            <a:cxnLst/>
            <a:rect l="l" t="t" r="r" b="b"/>
            <a:pathLst>
              <a:path w="5429250" h="1104900">
                <a:moveTo>
                  <a:pt x="0" y="0"/>
                </a:moveTo>
                <a:lnTo>
                  <a:pt x="5429249" y="0"/>
                </a:lnTo>
                <a:lnTo>
                  <a:pt x="5429249" y="1104899"/>
                </a:lnTo>
                <a:lnTo>
                  <a:pt x="0" y="11048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81024" y="952499"/>
            <a:ext cx="5429250" cy="409575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174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25"/>
              </a:spcBef>
            </a:pP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Feasibility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549" y="1416050"/>
            <a:ext cx="541020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marR="284480">
              <a:lnSpc>
                <a:spcPct val="1307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high-recall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Early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Warning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System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(EWS)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stock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is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feasible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actionable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in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practice.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81724" y="962024"/>
            <a:ext cx="5429250" cy="1104900"/>
          </a:xfrm>
          <a:custGeom>
            <a:avLst/>
            <a:gdLst/>
            <a:ahLst/>
            <a:cxnLst/>
            <a:rect l="l" t="t" r="r" b="b"/>
            <a:pathLst>
              <a:path w="5429250" h="1104900">
                <a:moveTo>
                  <a:pt x="0" y="0"/>
                </a:moveTo>
                <a:lnTo>
                  <a:pt x="5429249" y="0"/>
                </a:lnTo>
                <a:lnTo>
                  <a:pt x="5429249" y="1104899"/>
                </a:lnTo>
                <a:lnTo>
                  <a:pt x="0" y="11048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81724" y="952499"/>
            <a:ext cx="5429250" cy="409575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174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Criticality</a:t>
            </a:r>
            <a:r>
              <a:rPr sz="11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Cost-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Sensitive</a:t>
            </a:r>
            <a:r>
              <a:rPr sz="11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1249" y="1416050"/>
            <a:ext cx="541020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marR="389890">
              <a:lnSpc>
                <a:spcPct val="1307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Cost-sensitive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learning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is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critical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rare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event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prediction,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enabling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models</a:t>
            </a:r>
            <a:r>
              <a:rPr sz="1100" spc="8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to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prioritize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detection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over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false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alarms.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1024" y="2238374"/>
            <a:ext cx="5429250" cy="1104900"/>
          </a:xfrm>
          <a:custGeom>
            <a:avLst/>
            <a:gdLst/>
            <a:ahLst/>
            <a:cxnLst/>
            <a:rect l="l" t="t" r="r" b="b"/>
            <a:pathLst>
              <a:path w="5429250" h="1104900">
                <a:moveTo>
                  <a:pt x="0" y="0"/>
                </a:moveTo>
                <a:lnTo>
                  <a:pt x="5429249" y="0"/>
                </a:lnTo>
                <a:lnTo>
                  <a:pt x="5429249" y="1104899"/>
                </a:lnTo>
                <a:lnTo>
                  <a:pt x="0" y="11048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1024" y="2228849"/>
            <a:ext cx="5429250" cy="409575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174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Robustness</a:t>
            </a:r>
            <a:r>
              <a:rPr sz="11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sz="11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Integration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549" y="2692400"/>
            <a:ext cx="541020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marR="580390">
              <a:lnSpc>
                <a:spcPct val="1307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Combining</a:t>
            </a:r>
            <a:r>
              <a:rPr sz="1100" spc="9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technical</a:t>
            </a:r>
            <a:r>
              <a:rPr sz="1100" spc="9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market</a:t>
            </a:r>
            <a:r>
              <a:rPr sz="1100" spc="9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indicators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with</a:t>
            </a:r>
            <a:r>
              <a:rPr sz="1100" spc="9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fundamental</a:t>
            </a:r>
            <a:r>
              <a:rPr sz="1100" spc="9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economic</a:t>
            </a:r>
            <a:r>
              <a:rPr sz="1100" spc="10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signals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provides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robust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and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reliable</a:t>
            </a:r>
            <a:r>
              <a:rPr sz="11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early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warnings.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81724" y="2238374"/>
            <a:ext cx="5429250" cy="1104900"/>
          </a:xfrm>
          <a:custGeom>
            <a:avLst/>
            <a:gdLst/>
            <a:ahLst/>
            <a:cxnLst/>
            <a:rect l="l" t="t" r="r" b="b"/>
            <a:pathLst>
              <a:path w="5429250" h="1104900">
                <a:moveTo>
                  <a:pt x="0" y="0"/>
                </a:moveTo>
                <a:lnTo>
                  <a:pt x="5429249" y="0"/>
                </a:lnTo>
                <a:lnTo>
                  <a:pt x="5429249" y="1104899"/>
                </a:lnTo>
                <a:lnTo>
                  <a:pt x="0" y="11048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2EA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81724" y="2228849"/>
            <a:ext cx="5429250" cy="409575"/>
          </a:xfrm>
          <a:prstGeom prst="rect">
            <a:avLst/>
          </a:prstGeom>
          <a:solidFill>
            <a:srgbClr val="002EA6"/>
          </a:solidFill>
        </p:spPr>
        <p:txBody>
          <a:bodyPr vert="horz" wrap="square" lIns="0" tIns="117475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Practical</a:t>
            </a:r>
            <a:r>
              <a:rPr sz="11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Trade-off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91249" y="2692400"/>
            <a:ext cx="541020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marR="532130">
              <a:lnSpc>
                <a:spcPct val="130700"/>
              </a:lnSpc>
              <a:spcBef>
                <a:spcPts val="95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Accept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high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false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alarm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rate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ensure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detection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real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catastrophes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1A1A1A"/>
                </a:solidFill>
                <a:latin typeface="Microsoft Sans Serif"/>
                <a:cs typeface="Microsoft Sans Serif"/>
              </a:rPr>
              <a:t>and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minimize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catastrophic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costs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100" spc="9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missed</a:t>
            </a:r>
            <a:r>
              <a:rPr sz="1100" spc="8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1499" y="3543299"/>
            <a:ext cx="11049000" cy="981075"/>
            <a:chOff x="571499" y="3543299"/>
            <a:chExt cx="11049000" cy="981075"/>
          </a:xfrm>
        </p:grpSpPr>
        <p:sp>
          <p:nvSpPr>
            <p:cNvPr id="16" name="object 16"/>
            <p:cNvSpPr/>
            <p:nvPr/>
          </p:nvSpPr>
          <p:spPr>
            <a:xfrm>
              <a:off x="571499" y="3543299"/>
              <a:ext cx="11049000" cy="981075"/>
            </a:xfrm>
            <a:custGeom>
              <a:avLst/>
              <a:gdLst/>
              <a:ahLst/>
              <a:cxnLst/>
              <a:rect l="l" t="t" r="r" b="b"/>
              <a:pathLst>
                <a:path w="11049000" h="981075">
                  <a:moveTo>
                    <a:pt x="11048999" y="981074"/>
                  </a:moveTo>
                  <a:lnTo>
                    <a:pt x="0" y="981074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98107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1499" y="3543299"/>
              <a:ext cx="38100" cy="981075"/>
            </a:xfrm>
            <a:custGeom>
              <a:avLst/>
              <a:gdLst/>
              <a:ahLst/>
              <a:cxnLst/>
              <a:rect l="l" t="t" r="r" b="b"/>
              <a:pathLst>
                <a:path w="38100" h="981075">
                  <a:moveTo>
                    <a:pt x="38099" y="981074"/>
                  </a:moveTo>
                  <a:lnTo>
                    <a:pt x="0" y="9810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981074"/>
                  </a:lnTo>
                  <a:close/>
                </a:path>
              </a:pathLst>
            </a:custGeom>
            <a:solidFill>
              <a:srgbClr val="E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9599" y="3554856"/>
            <a:ext cx="11010900" cy="79184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885"/>
              </a:spcBef>
            </a:pPr>
            <a:r>
              <a:rPr sz="1200" b="1" spc="-25" dirty="0">
                <a:solidFill>
                  <a:srgbClr val="E63845"/>
                </a:solidFill>
                <a:latin typeface="Arial"/>
                <a:cs typeface="Arial"/>
              </a:rPr>
              <a:t>Central</a:t>
            </a:r>
            <a:r>
              <a:rPr sz="1200" b="1" spc="-40" dirty="0">
                <a:solidFill>
                  <a:srgbClr val="E6384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E63845"/>
                </a:solidFill>
                <a:latin typeface="Arial"/>
                <a:cs typeface="Arial"/>
              </a:rPr>
              <a:t>Philosophy</a:t>
            </a:r>
            <a:endParaRPr sz="1200">
              <a:latin typeface="Arial"/>
              <a:cs typeface="Arial"/>
            </a:endParaRPr>
          </a:p>
          <a:p>
            <a:pPr marL="190500" marR="364490">
              <a:lnSpc>
                <a:spcPct val="130700"/>
              </a:lnSpc>
              <a:spcBef>
                <a:spcPts val="350"/>
              </a:spcBef>
            </a:pP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In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risk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management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contexts,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the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asymmetric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cost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of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prediction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errors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demands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a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paradigm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shift: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it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is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better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to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be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safe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than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sorry.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Our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93.57%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recall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rate</a:t>
            </a:r>
            <a:r>
              <a:rPr sz="1100" spc="7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with</a:t>
            </a:r>
            <a:r>
              <a:rPr sz="1100" spc="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17.04%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precision</a:t>
            </a:r>
            <a:r>
              <a:rPr sz="1100" spc="12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reflects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this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principle—</a:t>
            </a:r>
            <a:r>
              <a:rPr sz="1100" spc="60" dirty="0">
                <a:solidFill>
                  <a:srgbClr val="1A1A1A"/>
                </a:solidFill>
                <a:latin typeface="Microsoft Sans Serif"/>
                <a:cs typeface="Microsoft Sans Serif"/>
              </a:rPr>
              <a:t>we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prioritize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catching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crashes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over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reducing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A1A1A"/>
                </a:solidFill>
                <a:latin typeface="Microsoft Sans Serif"/>
                <a:cs typeface="Microsoft Sans Serif"/>
              </a:rPr>
              <a:t>false</a:t>
            </a:r>
            <a:r>
              <a:rPr sz="1100" spc="1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alarms.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1024" y="4686299"/>
            <a:ext cx="11029950" cy="704850"/>
          </a:xfrm>
          <a:prstGeom prst="rect">
            <a:avLst/>
          </a:prstGeom>
          <a:solidFill>
            <a:srgbClr val="F5F5F5"/>
          </a:solidFill>
          <a:ln w="19049">
            <a:solidFill>
              <a:srgbClr val="002EA6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Times New Roman"/>
              <a:cs typeface="Times New Roman"/>
            </a:endParaRPr>
          </a:p>
          <a:p>
            <a:pPr marR="1905" algn="ctr">
              <a:lnSpc>
                <a:spcPct val="100000"/>
              </a:lnSpc>
            </a:pPr>
            <a:r>
              <a:rPr sz="900" b="1" spc="60" dirty="0">
                <a:solidFill>
                  <a:srgbClr val="002EA6"/>
                </a:solidFill>
                <a:latin typeface="Arial"/>
                <a:cs typeface="Arial"/>
              </a:rPr>
              <a:t>PROJECT</a:t>
            </a:r>
            <a:r>
              <a:rPr sz="900" b="1" spc="16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900" b="1" spc="50" dirty="0">
                <a:solidFill>
                  <a:srgbClr val="002EA6"/>
                </a:solidFill>
                <a:latin typeface="Arial"/>
                <a:cs typeface="Arial"/>
              </a:rPr>
              <a:t>REPOSITORY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200" b="1" spc="-10" dirty="0">
                <a:solidFill>
                  <a:srgbClr val="002EA6"/>
                </a:solidFill>
                <a:latin typeface="Arial"/>
                <a:cs typeface="Arial"/>
              </a:rPr>
              <a:t>https://github.com/chhateauuu/Stock-Market-Crash-Predictor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4677" y="577850"/>
            <a:ext cx="37122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70" dirty="0">
                <a:solidFill>
                  <a:srgbClr val="002EA6"/>
                </a:solidFill>
              </a:rPr>
              <a:t>Questions?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3852515" y="1625600"/>
            <a:ext cx="448246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1A1A1A"/>
                </a:solidFill>
                <a:latin typeface="Microsoft Sans Serif"/>
                <a:cs typeface="Microsoft Sans Serif"/>
              </a:rPr>
              <a:t>Thank</a:t>
            </a:r>
            <a:r>
              <a:rPr sz="2700" spc="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1A1A1A"/>
                </a:solidFill>
                <a:latin typeface="Microsoft Sans Serif"/>
                <a:cs typeface="Microsoft Sans Serif"/>
              </a:rPr>
              <a:t>You</a:t>
            </a:r>
            <a:r>
              <a:rPr sz="2700" spc="7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2700" dirty="0">
                <a:solidFill>
                  <a:srgbClr val="1A1A1A"/>
                </a:solidFill>
                <a:latin typeface="Microsoft Sans Serif"/>
                <a:cs typeface="Microsoft Sans Serif"/>
              </a:rPr>
              <a:t>for</a:t>
            </a:r>
            <a:r>
              <a:rPr sz="2700" spc="2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27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Your</a:t>
            </a:r>
            <a:r>
              <a:rPr sz="2700" spc="-6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270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Attention</a:t>
            </a:r>
            <a:endParaRPr sz="27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19749" y="2524124"/>
            <a:ext cx="952500" cy="28575"/>
          </a:xfrm>
          <a:custGeom>
            <a:avLst/>
            <a:gdLst/>
            <a:ahLst/>
            <a:cxnLst/>
            <a:rect l="l" t="t" r="r" b="b"/>
            <a:pathLst>
              <a:path w="952500" h="28575">
                <a:moveTo>
                  <a:pt x="952499" y="28574"/>
                </a:moveTo>
                <a:lnTo>
                  <a:pt x="0" y="28574"/>
                </a:lnTo>
                <a:lnTo>
                  <a:pt x="0" y="0"/>
                </a:lnTo>
                <a:lnTo>
                  <a:pt x="952499" y="0"/>
                </a:lnTo>
                <a:lnTo>
                  <a:pt x="952499" y="28574"/>
                </a:lnTo>
                <a:close/>
              </a:path>
            </a:pathLst>
          </a:custGeom>
          <a:solidFill>
            <a:srgbClr val="E638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30229" y="2987675"/>
            <a:ext cx="1531620" cy="1164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0"/>
              </a:spcBef>
            </a:pPr>
            <a:r>
              <a:rPr sz="1050" b="1" spc="75" dirty="0">
                <a:solidFill>
                  <a:srgbClr val="002EA6"/>
                </a:solidFill>
                <a:latin typeface="Arial"/>
                <a:cs typeface="Arial"/>
              </a:rPr>
              <a:t>AUTHORS</a:t>
            </a:r>
            <a:endParaRPr sz="1050">
              <a:latin typeface="Arial"/>
              <a:cs typeface="Arial"/>
            </a:endParaRPr>
          </a:p>
          <a:p>
            <a:pPr marL="12700" marR="5080" algn="ctr">
              <a:lnSpc>
                <a:spcPct val="150500"/>
              </a:lnSpc>
              <a:spcBef>
                <a:spcPts val="395"/>
              </a:spcBef>
            </a:pP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Aaryabrat</a:t>
            </a:r>
            <a:r>
              <a:rPr sz="1350" spc="1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Chhatkuli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Dmitri</a:t>
            </a:r>
            <a:r>
              <a:rPr sz="13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dirty="0">
                <a:solidFill>
                  <a:srgbClr val="1A1A1A"/>
                </a:solidFill>
                <a:latin typeface="Microsoft Sans Serif"/>
                <a:cs typeface="Microsoft Sans Serif"/>
              </a:rPr>
              <a:t>De</a:t>
            </a:r>
            <a:r>
              <a:rPr sz="1350" spc="-5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Freitas Tyfani</a:t>
            </a:r>
            <a:r>
              <a:rPr sz="1350" spc="-40" dirty="0">
                <a:solidFill>
                  <a:srgbClr val="1A1A1A"/>
                </a:solidFill>
                <a:latin typeface="Microsoft Sans Serif"/>
                <a:cs typeface="Microsoft Sans Serif"/>
              </a:rPr>
              <a:t> </a:t>
            </a:r>
            <a:r>
              <a:rPr sz="1350" spc="-10" dirty="0">
                <a:solidFill>
                  <a:srgbClr val="1A1A1A"/>
                </a:solidFill>
                <a:latin typeface="Microsoft Sans Serif"/>
                <a:cs typeface="Microsoft Sans Serif"/>
              </a:rPr>
              <a:t>Fennell</a:t>
            </a:r>
            <a:endParaRPr sz="13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9253" y="4721859"/>
            <a:ext cx="4296410" cy="5638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R="9525" algn="ctr">
              <a:lnSpc>
                <a:spcPct val="100000"/>
              </a:lnSpc>
              <a:spcBef>
                <a:spcPts val="695"/>
              </a:spcBef>
            </a:pPr>
            <a:r>
              <a:rPr sz="1050" b="1" spc="90" dirty="0">
                <a:solidFill>
                  <a:srgbClr val="002EA6"/>
                </a:solidFill>
                <a:latin typeface="Arial"/>
                <a:cs typeface="Arial"/>
              </a:rPr>
              <a:t>PROJECT</a:t>
            </a:r>
            <a:r>
              <a:rPr sz="1050" b="1" spc="220" dirty="0">
                <a:solidFill>
                  <a:srgbClr val="002EA6"/>
                </a:solidFill>
                <a:latin typeface="Arial"/>
                <a:cs typeface="Arial"/>
              </a:rPr>
              <a:t> </a:t>
            </a:r>
            <a:r>
              <a:rPr sz="1050" b="1" spc="80" dirty="0">
                <a:solidFill>
                  <a:srgbClr val="002EA6"/>
                </a:solidFill>
                <a:latin typeface="Arial"/>
                <a:cs typeface="Arial"/>
              </a:rPr>
              <a:t>REPOSITORY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sz="1350" b="1" spc="-35" dirty="0">
                <a:solidFill>
                  <a:srgbClr val="E63845"/>
                </a:solidFill>
                <a:latin typeface="Arial"/>
                <a:cs typeface="Arial"/>
              </a:rPr>
              <a:t>github.com/chhateauuu/Stock-Market-Crash-</a:t>
            </a:r>
            <a:r>
              <a:rPr sz="1350" b="1" spc="-10" dirty="0">
                <a:solidFill>
                  <a:srgbClr val="E63845"/>
                </a:solidFill>
                <a:latin typeface="Arial"/>
                <a:cs typeface="Arial"/>
              </a:rPr>
              <a:t>Predictor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89350" y="6026149"/>
            <a:ext cx="32131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i="1" dirty="0">
                <a:solidFill>
                  <a:srgbClr val="1A1A1A"/>
                </a:solidFill>
                <a:latin typeface="Arial"/>
                <a:cs typeface="Arial"/>
              </a:rPr>
              <a:t>All</a:t>
            </a:r>
            <a:r>
              <a:rPr sz="1050" i="1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1A1A1A"/>
                </a:solidFill>
                <a:latin typeface="Arial"/>
                <a:cs typeface="Arial"/>
              </a:rPr>
              <a:t>code,</a:t>
            </a:r>
            <a:r>
              <a:rPr sz="1050" i="1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1A1A1A"/>
                </a:solidFill>
                <a:latin typeface="Arial"/>
                <a:cs typeface="Arial"/>
              </a:rPr>
              <a:t>notebooks,</a:t>
            </a:r>
            <a:r>
              <a:rPr sz="1050" i="1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1A1A1A"/>
                </a:solidFill>
                <a:latin typeface="Arial"/>
                <a:cs typeface="Arial"/>
              </a:rPr>
              <a:t>and</a:t>
            </a:r>
            <a:r>
              <a:rPr sz="1050" i="1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1A1A1A"/>
                </a:solidFill>
                <a:latin typeface="Arial"/>
                <a:cs typeface="Arial"/>
              </a:rPr>
              <a:t>data</a:t>
            </a:r>
            <a:r>
              <a:rPr sz="1050" i="1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1A1A1A"/>
                </a:solidFill>
                <a:latin typeface="Arial"/>
                <a:cs typeface="Arial"/>
              </a:rPr>
              <a:t>are</a:t>
            </a:r>
            <a:r>
              <a:rPr sz="1050" i="1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1A1A1A"/>
                </a:solidFill>
                <a:latin typeface="Arial"/>
                <a:cs typeface="Arial"/>
              </a:rPr>
              <a:t>available</a:t>
            </a:r>
            <a:r>
              <a:rPr sz="1050" i="1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i="1" dirty="0">
                <a:solidFill>
                  <a:srgbClr val="1A1A1A"/>
                </a:solidFill>
                <a:latin typeface="Arial"/>
                <a:cs typeface="Arial"/>
              </a:rPr>
              <a:t>on</a:t>
            </a:r>
            <a:r>
              <a:rPr sz="1050" i="1" spc="-2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050" i="1" spc="-10" dirty="0">
                <a:solidFill>
                  <a:srgbClr val="1A1A1A"/>
                </a:solidFill>
                <a:latin typeface="Arial"/>
                <a:cs typeface="Arial"/>
              </a:rPr>
              <a:t>GitHub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1169</Words>
  <Application>Microsoft Office PowerPoint</Application>
  <PresentationFormat>Widescreen</PresentationFormat>
  <Paragraphs>193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Microsoft Sans Serif</vt:lpstr>
      <vt:lpstr>Times New Roman</vt:lpstr>
      <vt:lpstr>Office Theme</vt:lpstr>
      <vt:lpstr>PowerPoint Presentation</vt:lpstr>
      <vt:lpstr>The Problem &amp; Research Question</vt:lpstr>
      <vt:lpstr>Data Sources: Building a Comprehensive Information Base</vt:lpstr>
      <vt:lpstr>Data Cleaning and Preparation: Ensuring Temporal Integrity</vt:lpstr>
      <vt:lpstr>Data Architecture &amp; Feature Engineering</vt:lpstr>
      <vt:lpstr>Handling the Imbalance Problem</vt:lpstr>
      <vt:lpstr>Weighted Ensemble Model Architecture</vt:lpstr>
      <vt:lpstr>Discriminatory Power (ROC Curves)</vt:lpstr>
      <vt:lpstr>The Precision-Recall Trade-off</vt:lpstr>
      <vt:lpstr>What Drives the Predictions? (Feature Importance)</vt:lpstr>
      <vt:lpstr>Historical Validation (Prediction Timeline)</vt:lpstr>
      <vt:lpstr>Key Achievements &amp; Future Directions</vt:lpstr>
      <vt:lpstr>Conclusions &amp; Takeaways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Dmitri de Freitas</cp:lastModifiedBy>
  <cp:revision>1</cp:revision>
  <dcterms:created xsi:type="dcterms:W3CDTF">2025-12-14T20:21:41Z</dcterms:created>
  <dcterms:modified xsi:type="dcterms:W3CDTF">2025-12-14T20:56:44Z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2025-12-14T00:00:00Z</vt:filetime>
  </property>
  <property fmtid="{D5CDD505-2E9C-101B-9397-08002B2CF9AE}" pid="5" name="Producer">
    <vt:lpwstr>pdf-lib (https://github.com/Hopding/pdf-lib)</vt:lpwstr>
  </property>
</Properties>
</file>